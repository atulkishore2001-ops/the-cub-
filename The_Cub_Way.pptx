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2eabfb6f-9699-e25f-b95c-ea4d656b4d1d}">
          <p14:sldIdLst>
            <p14:sldId id="256"/>
          </p14:sldIdLst>
        </p14:section>
        <p14:section name="Who we are" id="{3fdc7ba1-5b74-191e-eaf1-799b680be8b4}">
          <p14:sldIdLst>
            <p14:sldId id="257"/>
            <p14:sldId id="258"/>
          </p14:sldIdLst>
        </p14:section>
        <p14:section name="How we write" id="{cf0fb4e2-5689-ee4d-34b2-0b84256cbcb1}">
          <p14:sldIdLst>
            <p14:sldId id="259"/>
            <p14:sldId id="260"/>
          </p14:sldIdLst>
        </p14:section>
        <p14:section name="How we look" id="{d9cb79c6-a588-e624-5b28-5edc8b3434e8}">
          <p14:sldIdLst>
            <p14:sldId id="261"/>
            <p14:sldId id="262"/>
            <p14:sldId id="263"/>
          </p14:sldIdLst>
        </p14:section>
        <p14:section name="Put it into practice" id="{3242b170-d237-fd35-8b41-75691ac8bbfa}">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intern. 'The Cub Way' is our short guide to how The Cub looks, sounds and feels online. Everything here comes from our brand guide and our own Instagram posts. Use it as a reference while you create content. Walk-through order: who we are, our voice, how we write, our language, colours and fonts, design style, visuals and reels, do's and don'ts,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 multidisciplinary centre for children and adolescents. Our big idea: look at the whole child before reaching for a label. Two audiences. Parents and caregivers: they want clear, kind answers and often feel judged. Clinicians and professionals: they want practical detail (see our OSIT workshop posts). Ask the intern: who is this post for? That answer decides the words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words to remember: warm, clear, respectful, expert. Each quote on the cards is taken or adapted from our own posts. The test: would a worried parent feel judged by this line? If yes, rewrite it. Would a clinician trust it? It should still be accurate and evidence-informed.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and headlines follow one pattern in our posts: question the label, then offer help. Examples are real: 'Struggling Doesn't Mean Not Trying.', 'ADHD is more than just being Hyper', 'What can help?'. Headline recipe: line one sets up (charcoal), line two pays off (orange). Caption recipe is based on how our ADHD and Learning Disability carousels flow: hook, explain, reassure, one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sentences, simple words. Notice how often our posts say 'may' and 'can': 'may sometimes reflect', 'may struggle with'. We never state things as absolute facts about a child. Words like lazy, careless and not trying only appear inside quote marks, to challenge them. Spelling is British (organisation, labelling, individualised, paediatricians). Dates and prices follow the workshop posts. Parent posts explain terms simply; clinician posts can use clinical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colours: The Cub Orange (#F0853E) for accents, labels, icons and calls to action; Charcoal (#2B2B2B) for headlines, backgrounds and the wordmark; Cream (#FDF6EE) for backgrounds, cards and panels; White for cards, digital UI and breathing space. Three fonts: Playfair Display for headlines, Glacial Indifference for body text, Lexend for small labels and tags. Do not add other colours or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Anatomy of a Cub post, using our ADHD Awareness carousel. Walk through the six numbered parts. Rhythm: a white cover slide, then alternate between white and orange slides so the swipe feels lively. Every slide has the page counter in the bottom-right corner. Special days (like Learning Disability Month) use a textured paper background, big numbers and hand-drawn doodles, but the same colours, fonts and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Photos: soft rounded frames, calm and simple; hand-drawn doodles for sensitive topics; white line icons on orange. Carousels are our main format: five or six slides, one idea each, alternating white and orange. Our references do not include a reel, so apply the same system in motion: same colours and fonts, same calm voice, logo on white, finish with thecub.co.in. Check new reel ideas with the team lead until we have a reel template. Event posts add charcoal price pills with orange labels, a QR code to register, and partner logos on a white plate (as in the OSIT workshop posts).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 reference. Do: open with a myth or question, short plain sentences, may and can, end with reassurance and our website, use the brand colours, fonts and the real logo, proofread. Don't: blame, label or diagnose, use scary or clickbait hooks, use jargon in parent posts, add new colours or fonts or redraw the logo, crowd slides or copy old text across posts. Always proofread: reused text from an old post is easy to miss, and overlapping elements show up only when you look at the finished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posts from our feed and why they feel like us: the Learning Disability Month post flips a blaming question into a helpful one; the ADHD carousel closes with a two-tone headline and warm line; the OSIT workshop post makes event details easy to scan. On the right, the 'Not us' lines are examples of what we would never publish; the orange lines are how we say the same thing. Close with the five-question check before every post: kind, clear, sounds like us, looks like us, proofread.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image-1004-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pic>
        <p:nvPicPr>
          <p:cNvPr id="2" name="Image 0" descr="/home/user/The-Cub-/deck/assets/blob_cream_a.png">    </p:cNvPr>
          <p:cNvPicPr>
            <a:picLocks noChangeAspect="1"/>
          </p:cNvPicPr>
          <p:nvPr/>
        </p:nvPicPr>
        <p:blipFill>
          <a:blip r:embed="rId1"/>
          <a:stretch>
            <a:fillRect/>
          </a:stretch>
        </p:blipFill>
        <p:spPr>
          <a:xfrm>
            <a:off x="0" y="4617720"/>
            <a:ext cx="4297680" cy="2240280"/>
          </a:xfrm>
          <a:prstGeom prst="rect">
            <a:avLst/>
          </a:prstGeom>
        </p:spPr>
      </p:pic>
      <p:pic>
        <p:nvPicPr>
          <p:cNvPr id="3" name="Image 1" descr="/home/user/The-Cub-/deck/assets/blob_orange_b.png">    </p:cNvPr>
          <p:cNvPicPr>
            <a:picLocks noChangeAspect="1"/>
          </p:cNvPicPr>
          <p:nvPr/>
        </p:nvPicPr>
        <p:blipFill>
          <a:blip r:embed="rId2"/>
          <a:stretch>
            <a:fillRect/>
          </a:stretch>
        </p:blipFill>
        <p:spPr>
          <a:xfrm>
            <a:off x="6355080" y="0"/>
            <a:ext cx="7054596" cy="6858000"/>
          </a:xfrm>
          <a:prstGeom prst="rect">
            <a:avLst/>
          </a:prstGeom>
        </p:spPr>
      </p:pic>
      <p:sp>
        <p:nvSpPr>
          <p:cNvPr id="4" name="Text 0"/>
          <p:cNvSpPr/>
          <p:nvPr/>
        </p:nvSpPr>
        <p:spPr>
          <a:xfrm>
            <a:off x="11539728" y="6181344"/>
            <a:ext cx="548640" cy="365760"/>
          </a:xfrm>
          <a:prstGeom prst="rect">
            <a:avLst/>
          </a:prstGeom>
          <a:noFill/>
          <a:ln/>
        </p:spPr>
        <p:txBody>
          <a:bodyPr wrap="square" lIns="0" tIns="0" rIns="0" bIns="0" rtlCol="0" anchor="ctr"/>
          <a:lstStyle/>
          <a:p>
            <a:pPr indent="0" marL="0">
              <a:buNone/>
            </a:pPr>
            <a:r>
              <a:rPr lang="en-US" sz="1600" b="1" dirty="0">
                <a:solidFill>
                  <a:srgbClr val="FFFFFF"/>
                </a:solidFill>
                <a:latin typeface="Lexend" pitchFamily="34" charset="0"/>
                <a:ea typeface="Lexend" pitchFamily="34" charset="-122"/>
                <a:cs typeface="Lexend" pitchFamily="34" charset="-120"/>
              </a:rPr>
              <a:t>/10</a:t>
            </a:r>
            <a:endParaRPr lang="en-US" sz="1600" dirty="0"/>
          </a:p>
        </p:txBody>
      </p:sp>
      <p:sp>
        <p:nvSpPr>
          <p:cNvPr id="5" name="Shape 1"/>
          <p:cNvSpPr/>
          <p:nvPr/>
        </p:nvSpPr>
        <p:spPr>
          <a:xfrm>
            <a:off x="11109960" y="6583680"/>
            <a:ext cx="685800" cy="0"/>
          </a:xfrm>
          <a:prstGeom prst="line">
            <a:avLst/>
          </a:prstGeom>
          <a:noFill/>
          <a:ln w="15875">
            <a:solidFill>
              <a:srgbClr val="FFFFFF"/>
            </a:solidFill>
            <a:prstDash val="solid"/>
            <a:tailEnd type="arrow"/>
          </a:ln>
        </p:spPr>
      </p:sp>
      <p:sp>
        <p:nvSpPr>
          <p:cNvPr id="6" name="Text 2"/>
          <p:cNvSpPr/>
          <p:nvPr>
            <p:ph idx="104" type="title" hasCustomPrompt="1"/>
          </p:nvPr>
        </p:nvSpPr>
        <p:spPr>
          <a:xfrm>
            <a:off x="640080" y="1920240"/>
            <a:ext cx="5212080" cy="2743200"/>
          </a:xfrm>
          <a:prstGeom prst="rect">
            <a:avLst/>
          </a:prstGeom>
          <a:noFill/>
          <a:ln/>
        </p:spPr>
        <p:txBody>
          <a:bodyPr wrap="square" rtlCol="0"/>
          <a:lstStyle>
            <a:lvl1pPr algn="l" indent="0" marL="0">
              <a:lnSpc>
                <a:spcPct val="88000"/>
              </a:lnSpc>
              <a:buNone/>
              <a:defRPr lang="en-US" sz="8400" b="1" dirty="0">
                <a:solidFill>
                  <a:schemeClr val="tx1"/>
                </a:solidFill>
              </a:defRPr>
            </a:lvl1pPr>
          </a:lstStyle>
          <a:p>
            <a:pPr algn="l" indent="0" marL="0">
              <a:lnSpc>
                <a:spcPct val="88000"/>
              </a:lnSpc>
              <a:buNone/>
            </a:pPr>
            <a:endParaRPr lang="en-US" sz="84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pic>
        <p:nvPicPr>
          <p:cNvPr id="2" name="Image 0" descr="/home/user/The-Cub-/deck/assets/spark.png">    </p:cNvPr>
          <p:cNvPicPr>
            <a:picLocks noChangeAspect="1"/>
          </p:cNvPicPr>
          <p:nvPr/>
        </p:nvPicPr>
        <p:blipFill>
          <a:blip r:embed="rId1"/>
          <a:stretch>
            <a:fillRect/>
          </a:stretch>
        </p:blipFill>
        <p:spPr>
          <a:xfrm>
            <a:off x="182880" y="365760"/>
            <a:ext cx="329184" cy="356616"/>
          </a:xfrm>
          <a:prstGeom prst="rect">
            <a:avLst/>
          </a:prstGeom>
        </p:spPr>
      </p:pic>
      <p:pic>
        <p:nvPicPr>
          <p:cNvPr id="3" name="Image 1" descr="/home/user/The-Cub-/deck/assets/quarter.png">    </p:cNvPr>
          <p:cNvPicPr>
            <a:picLocks noChangeAspect="1"/>
          </p:cNvPicPr>
          <p:nvPr/>
        </p:nvPicPr>
        <p:blipFill>
          <a:blip r:embed="rId2"/>
          <a:stretch>
            <a:fillRect/>
          </a:stretch>
        </p:blipFill>
        <p:spPr>
          <a:xfrm>
            <a:off x="10835640" y="5742432"/>
            <a:ext cx="1356055" cy="1115568"/>
          </a:xfrm>
          <a:prstGeom prst="rect">
            <a:avLst/>
          </a:prstGeom>
        </p:spPr>
      </p:pic>
      <p:sp>
        <p:nvSpPr>
          <p:cNvPr id="4" name="Text 0"/>
          <p:cNvSpPr/>
          <p:nvPr/>
        </p:nvSpPr>
        <p:spPr>
          <a:xfrm>
            <a:off x="11539728" y="6181344"/>
            <a:ext cx="548640" cy="365760"/>
          </a:xfrm>
          <a:prstGeom prst="rect">
            <a:avLst/>
          </a:prstGeom>
          <a:noFill/>
          <a:ln/>
        </p:spPr>
        <p:txBody>
          <a:bodyPr wrap="square" lIns="0" tIns="0" rIns="0" bIns="0" rtlCol="0" anchor="ctr"/>
          <a:lstStyle/>
          <a:p>
            <a:pPr indent="0" marL="0">
              <a:buNone/>
            </a:pPr>
            <a:r>
              <a:rPr lang="en-US" sz="1600" b="1" dirty="0">
                <a:solidFill>
                  <a:srgbClr val="FFFFFF"/>
                </a:solidFill>
                <a:latin typeface="Lexend" pitchFamily="34" charset="0"/>
                <a:ea typeface="Lexend" pitchFamily="34" charset="-122"/>
                <a:cs typeface="Lexend" pitchFamily="34" charset="-120"/>
              </a:rPr>
              <a:t>/10</a:t>
            </a:r>
            <a:endParaRPr lang="en-US" sz="1600" dirty="0"/>
          </a:p>
        </p:txBody>
      </p:sp>
      <p:sp>
        <p:nvSpPr>
          <p:cNvPr id="5" name="Shape 1"/>
          <p:cNvSpPr/>
          <p:nvPr/>
        </p:nvSpPr>
        <p:spPr>
          <a:xfrm>
            <a:off x="11109960" y="6583680"/>
            <a:ext cx="685800" cy="0"/>
          </a:xfrm>
          <a:prstGeom prst="line">
            <a:avLst/>
          </a:prstGeom>
          <a:noFill/>
          <a:ln w="15875">
            <a:solidFill>
              <a:srgbClr val="FFFFFF"/>
            </a:solidFill>
            <a:prstDash val="solid"/>
            <a:tailEnd type="arrow"/>
          </a:ln>
        </p:spPr>
      </p:sp>
      <p:pic>
        <p:nvPicPr>
          <p:cNvPr id="6" name="Image 2" descr="/home/user/The-Cub-/deck/assets/logo_horizontal.png">    </p:cNvPr>
          <p:cNvPicPr>
            <a:picLocks noChangeAspect="1"/>
          </p:cNvPicPr>
          <p:nvPr/>
        </p:nvPicPr>
        <p:blipFill>
          <a:blip r:embed="rId3"/>
          <a:stretch>
            <a:fillRect/>
          </a:stretch>
        </p:blipFill>
        <p:spPr>
          <a:xfrm>
            <a:off x="548640" y="6272784"/>
            <a:ext cx="1783080" cy="334670"/>
          </a:xfrm>
          <a:prstGeom prst="rect">
            <a:avLst/>
          </a:prstGeom>
        </p:spPr>
      </p:pic>
      <p:sp>
        <p:nvSpPr>
          <p:cNvPr id="7" name="Text 2"/>
          <p:cNvSpPr/>
          <p:nvPr>
            <p:ph idx="105" type="title" hasCustomPrompt="1"/>
          </p:nvPr>
        </p:nvSpPr>
        <p:spPr>
          <a:xfrm>
            <a:off x="566928" y="457200"/>
            <a:ext cx="7955280" cy="1280160"/>
          </a:xfrm>
          <a:prstGeom prst="rect">
            <a:avLst/>
          </a:prstGeom>
          <a:noFill/>
          <a:ln/>
        </p:spPr>
        <p:txBody>
          <a:bodyPr wrap="square" rtlCol="0"/>
          <a:lstStyle>
            <a:lvl1pPr algn="l" indent="0" marL="0">
              <a:lnSpc>
                <a:spcPct val="95000"/>
              </a:lnSpc>
              <a:buNone/>
              <a:defRPr lang="en-US" sz="3600" b="1" dirty="0">
                <a:solidFill>
                  <a:schemeClr val="tx1"/>
                </a:solidFill>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range">
    <p:bg>
      <p:bgPr>
        <a:solidFill>
          <a:schemeClr val="accent1"/>
        </a:solidFill>
      </p:bgPr>
    </p:bg>
    <p:spTree>
      <p:nvGrpSpPr>
        <p:cNvPr id="1" name=""/>
        <p:cNvGrpSpPr/>
        <p:nvPr/>
      </p:nvGrpSpPr>
      <p:grpSpPr>
        <a:xfrm>
          <a:off x="0" y="0"/>
          <a:ext cx="0" cy="0"/>
          <a:chOff x="0" y="0"/>
          <a:chExt cx="0" cy="0"/>
        </a:xfrm>
      </p:grpSpPr>
      <p:pic>
        <p:nvPicPr>
          <p:cNvPr id="2" name="Image 0" descr="/home/user/The-Cub-/deck/assets/spark.png">    </p:cNvPr>
          <p:cNvPicPr>
            <a:picLocks noChangeAspect="1"/>
          </p:cNvPicPr>
          <p:nvPr/>
        </p:nvPicPr>
        <p:blipFill>
          <a:blip r:embed="rId1"/>
          <a:stretch>
            <a:fillRect/>
          </a:stretch>
        </p:blipFill>
        <p:spPr>
          <a:xfrm>
            <a:off x="182880" y="365760"/>
            <a:ext cx="329184" cy="356616"/>
          </a:xfrm>
          <a:prstGeom prst="rect">
            <a:avLst/>
          </a:prstGeom>
        </p:spPr>
      </p:pic>
      <p:sp>
        <p:nvSpPr>
          <p:cNvPr id="3" name="Text 0"/>
          <p:cNvSpPr/>
          <p:nvPr/>
        </p:nvSpPr>
        <p:spPr>
          <a:xfrm>
            <a:off x="11539728" y="6181344"/>
            <a:ext cx="548640" cy="365760"/>
          </a:xfrm>
          <a:prstGeom prst="rect">
            <a:avLst/>
          </a:prstGeom>
          <a:noFill/>
          <a:ln/>
        </p:spPr>
        <p:txBody>
          <a:bodyPr wrap="square" lIns="0" tIns="0" rIns="0" bIns="0" rtlCol="0" anchor="ctr"/>
          <a:lstStyle/>
          <a:p>
            <a:pPr indent="0" marL="0">
              <a:buNone/>
            </a:pPr>
            <a:r>
              <a:rPr lang="en-US" sz="1600" b="1" dirty="0">
                <a:solidFill>
                  <a:srgbClr val="FFFFFF"/>
                </a:solidFill>
                <a:latin typeface="Lexend" pitchFamily="34" charset="0"/>
                <a:ea typeface="Lexend" pitchFamily="34" charset="-122"/>
                <a:cs typeface="Lexend" pitchFamily="34" charset="-120"/>
              </a:rPr>
              <a:t>/10</a:t>
            </a:r>
            <a:endParaRPr lang="en-US" sz="1600" dirty="0"/>
          </a:p>
        </p:txBody>
      </p:sp>
      <p:sp>
        <p:nvSpPr>
          <p:cNvPr id="4" name="Shape 1"/>
          <p:cNvSpPr/>
          <p:nvPr/>
        </p:nvSpPr>
        <p:spPr>
          <a:xfrm>
            <a:off x="11109960" y="6583680"/>
            <a:ext cx="685800" cy="0"/>
          </a:xfrm>
          <a:prstGeom prst="line">
            <a:avLst/>
          </a:prstGeom>
          <a:noFill/>
          <a:ln w="15875">
            <a:solidFill>
              <a:srgbClr val="FFFFFF"/>
            </a:solidFill>
            <a:prstDash val="solid"/>
            <a:tailEnd type="arrow"/>
          </a:ln>
        </p:spPr>
      </p:sp>
      <p:pic>
        <p:nvPicPr>
          <p:cNvPr id="5" name="Image 1" descr="/home/user/The-Cub-/deck/assets/plate_white.png">    </p:cNvPr>
          <p:cNvPicPr>
            <a:picLocks noChangeAspect="1"/>
          </p:cNvPicPr>
          <p:nvPr/>
        </p:nvPicPr>
        <p:blipFill>
          <a:blip r:embed="rId2"/>
          <a:stretch>
            <a:fillRect/>
          </a:stretch>
        </p:blipFill>
        <p:spPr>
          <a:xfrm>
            <a:off x="411480" y="6144768"/>
            <a:ext cx="2057400" cy="548640"/>
          </a:xfrm>
          <a:prstGeom prst="rect">
            <a:avLst/>
          </a:prstGeom>
        </p:spPr>
      </p:pic>
      <p:pic>
        <p:nvPicPr>
          <p:cNvPr id="6" name="Image 2" descr="/home/user/The-Cub-/deck/assets/logo_horizontal.png">    </p:cNvPr>
          <p:cNvPicPr>
            <a:picLocks noChangeAspect="1"/>
          </p:cNvPicPr>
          <p:nvPr/>
        </p:nvPicPr>
        <p:blipFill>
          <a:blip r:embed="rId3"/>
          <a:stretch>
            <a:fillRect/>
          </a:stretch>
        </p:blipFill>
        <p:spPr>
          <a:xfrm>
            <a:off x="594360" y="6268212"/>
            <a:ext cx="1691640" cy="317297"/>
          </a:xfrm>
          <a:prstGeom prst="rect">
            <a:avLst/>
          </a:prstGeom>
        </p:spPr>
      </p:pic>
      <p:sp>
        <p:nvSpPr>
          <p:cNvPr id="7" name="Text 2"/>
          <p:cNvSpPr/>
          <p:nvPr>
            <p:ph idx="105" type="title" hasCustomPrompt="1"/>
          </p:nvPr>
        </p:nvSpPr>
        <p:spPr>
          <a:xfrm>
            <a:off x="566928" y="457200"/>
            <a:ext cx="7955280" cy="1280160"/>
          </a:xfrm>
          <a:prstGeom prst="rect">
            <a:avLst/>
          </a:prstGeom>
          <a:noFill/>
          <a:ln/>
        </p:spPr>
        <p:txBody>
          <a:bodyPr wrap="square" rtlCol="0"/>
          <a:lstStyle>
            <a:lvl1pPr algn="l" indent="0" marL="0">
              <a:lnSpc>
                <a:spcPct val="95000"/>
              </a:lnSpc>
              <a:buNone/>
              <a:defRPr lang="en-US" sz="3600" b="1" dirty="0">
                <a:solidFill>
                  <a:schemeClr val="bg1"/>
                </a:solidFill>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3.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ot pattern">    </p:cNvPr>
          <p:cNvPicPr>
            <a:picLocks noChangeAspect="1"/>
          </p:cNvPicPr>
          <p:nvPr/>
        </p:nvPicPr>
        <p:blipFill>
          <a:blip r:embed="rId1"/>
          <a:stretch>
            <a:fillRect/>
          </a:stretch>
        </p:blipFill>
        <p:spPr>
          <a:xfrm>
            <a:off x="4754880" y="502920"/>
            <a:ext cx="914400" cy="865937"/>
          </a:xfrm>
          <a:prstGeom prst="rect">
            <a:avLst/>
          </a:prstGeom>
        </p:spPr>
      </p:pic>
      <p:sp>
        <p:nvSpPr>
          <p:cNvPr id="3" name="Logo plate"/>
          <p:cNvSpPr/>
          <p:nvPr/>
        </p:nvSpPr>
        <p:spPr>
          <a:xfrm>
            <a:off x="7818120" y="1325880"/>
            <a:ext cx="3931920" cy="4160520"/>
          </a:xfrm>
          <a:prstGeom prst="roundRect">
            <a:avLst>
              <a:gd name="adj" fmla="val 9302"/>
            </a:avLst>
          </a:prstGeom>
          <a:solidFill>
            <a:schemeClr val="bg1"/>
          </a:solidFill>
          <a:ln/>
        </p:spPr>
      </p:sp>
      <p:pic>
        <p:nvPicPr>
          <p:cNvPr id="4" name="Image 1" descr="The Cub logo: tiger cub face and wordmark">    </p:cNvPr>
          <p:cNvPicPr>
            <a:picLocks noChangeAspect="1"/>
          </p:cNvPicPr>
          <p:nvPr/>
        </p:nvPicPr>
        <p:blipFill>
          <a:blip r:embed="rId2"/>
          <a:stretch>
            <a:fillRect/>
          </a:stretch>
        </p:blipFill>
        <p:spPr>
          <a:xfrm>
            <a:off x="8138160" y="1874520"/>
            <a:ext cx="3291840" cy="2820924"/>
          </a:xfrm>
          <a:prstGeom prst="rect">
            <a:avLst/>
          </a:prstGeom>
        </p:spPr>
      </p:pic>
      <p:pic>
        <p:nvPicPr>
          <p:cNvPr id="5" name="Image 2" descr="Spark">    </p:cNvPr>
          <p:cNvPicPr>
            <a:picLocks noChangeAspect="1"/>
          </p:cNvPicPr>
          <p:nvPr/>
        </p:nvPicPr>
        <p:blipFill>
          <a:blip r:embed="rId3"/>
          <a:stretch>
            <a:fillRect/>
          </a:stretch>
        </p:blipFill>
        <p:spPr>
          <a:xfrm>
            <a:off x="201168" y="1783080"/>
            <a:ext cx="457200" cy="493776"/>
          </a:xfrm>
          <a:prstGeom prst="rect">
            <a:avLst/>
          </a:prstGeom>
        </p:spPr>
      </p:pic>
      <p:sp>
        <p:nvSpPr>
          <p:cNvPr id="6" name="Cover tag"/>
          <p:cNvSpPr/>
          <p:nvPr/>
        </p:nvSpPr>
        <p:spPr>
          <a:xfrm>
            <a:off x="640080" y="1005840"/>
            <a:ext cx="42062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20" kern="0" dirty="0">
                <a:solidFill>
                  <a:schemeClr val="bg1"/>
                </a:solidFill>
                <a:latin typeface="Lexend" pitchFamily="34" charset="0"/>
                <a:ea typeface="Lexend" pitchFamily="34" charset="-122"/>
                <a:cs typeface="Lexend" pitchFamily="34" charset="-120"/>
              </a:rPr>
              <a:t>SOCIAL MEDIA INTERN ONBOARDING</a:t>
            </a:r>
            <a:endParaRPr lang="en-US" sz="1100" dirty="0"/>
          </a:p>
        </p:txBody>
      </p:sp>
      <p:sp>
        <p:nvSpPr>
          <p:cNvPr id="7" name="Text 2"/>
          <p:cNvSpPr/>
          <p:nvPr>
            <p:ph idx="104" type="title" hasCustomPrompt="1"/>
          </p:nvPr>
        </p:nvSpPr>
        <p:spPr>
          <a:xfrm>
            <a:off x="640080" y="1920240"/>
            <a:ext cx="5212080" cy="2743200"/>
          </a:xfrm>
          <a:prstGeom prst="rect">
            <a:avLst/>
          </a:prstGeom>
          <a:noFill/>
          <a:ln/>
        </p:spPr>
        <p:txBody>
          <a:bodyPr wrap="square" lIns="0" tIns="0" rIns="0" bIns="0" rtlCol="0" anchor="t"/>
          <a:lstStyle/>
          <a:p>
            <a:pPr algn="l" indent="0" marL="0">
              <a:lnSpc>
                <a:spcPct val="88000"/>
              </a:lnSpc>
              <a:buNone/>
            </a:pPr>
            <a:r>
              <a:rPr lang="en-US" sz="8400" b="1" dirty="0">
                <a:solidFill>
                  <a:schemeClr val="tx1"/>
                </a:solidFill>
              </a:rPr>
              <a:t>The Cub</a:t>
            </a:r>
            <a:endParaRPr lang="en-US" sz="8400" dirty="0"/>
          </a:p>
          <a:p>
            <a:pPr algn="l" indent="0" marL="0">
              <a:lnSpc>
                <a:spcPct val="88000"/>
              </a:lnSpc>
              <a:buNone/>
            </a:pPr>
            <a:r>
              <a:rPr lang="en-US" sz="8400" b="1" dirty="0">
                <a:solidFill>
                  <a:schemeClr val="accent1"/>
                </a:solidFill>
              </a:rPr>
              <a:t>Way</a:t>
            </a:r>
            <a:endParaRPr lang="en-US" sz="8400" dirty="0"/>
          </a:p>
        </p:txBody>
      </p:sp>
      <p:sp>
        <p:nvSpPr>
          <p:cNvPr id="8" name="Text 3"/>
          <p:cNvSpPr txBox="1"/>
          <p:nvPr/>
        </p:nvSpPr>
        <p:spPr>
          <a:xfrm>
            <a:off x="640080" y="4754880"/>
            <a:ext cx="4937760" cy="822960"/>
          </a:xfrm>
          <a:prstGeom prst="rect">
            <a:avLst/>
          </a:prstGeom>
          <a:noFill/>
          <a:ln/>
        </p:spPr>
        <p:txBody>
          <a:bodyPr wrap="square" lIns="0" tIns="0" rIns="0" bIns="0" rtlCol="0" anchor="t"/>
          <a:lstStyle/>
          <a:p>
            <a:pPr indent="0" marL="0">
              <a:buNone/>
            </a:pPr>
            <a:r>
              <a:rPr lang="en-US" sz="2200" dirty="0">
                <a:solidFill>
                  <a:schemeClr val="tx1"/>
                </a:solidFill>
              </a:rPr>
              <a:t>How we look, sound and feel</a:t>
            </a:r>
            <a:endParaRPr lang="en-US" sz="2200" dirty="0"/>
          </a:p>
          <a:p>
            <a:pPr indent="0" marL="0">
              <a:buNone/>
            </a:pPr>
            <a:r>
              <a:rPr lang="en-US" sz="2200" dirty="0">
                <a:solidFill>
                  <a:schemeClr val="tx1"/>
                </a:solidFill>
              </a:rPr>
              <a:t>on social media.</a:t>
            </a:r>
            <a:endParaRPr lang="en-US" sz="22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oft cream blob">    </p:cNvPr>
          <p:cNvPicPr>
            <a:picLocks noChangeAspect="1"/>
          </p:cNvPicPr>
          <p:nvPr/>
        </p:nvPicPr>
        <p:blipFill>
          <a:blip r:embed="rId1"/>
          <a:stretch>
            <a:fillRect/>
          </a:stretch>
        </p:blipFill>
        <p:spPr>
          <a:xfrm>
            <a:off x="7818120" y="0"/>
            <a:ext cx="4370832" cy="2423160"/>
          </a:xfrm>
          <a:prstGeom prst="rect">
            <a:avLst/>
          </a:prstGeom>
        </p:spPr>
      </p:pic>
      <p:sp>
        <p:nvSpPr>
          <p:cNvPr id="3" name="Section tag"/>
          <p:cNvSpPr/>
          <p:nvPr/>
        </p:nvSpPr>
        <p:spPr>
          <a:xfrm>
            <a:off x="9737446" y="502920"/>
            <a:ext cx="190561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20" kern="0" dirty="0">
                <a:solidFill>
                  <a:schemeClr val="bg1"/>
                </a:solidFill>
                <a:latin typeface="Lexend" pitchFamily="34" charset="0"/>
                <a:ea typeface="Lexend" pitchFamily="34" charset="-122"/>
                <a:cs typeface="Lexend" pitchFamily="34" charset="-120"/>
              </a:rPr>
              <a:t>ABOUT THE CUB</a:t>
            </a:r>
            <a:endParaRPr lang="en-US" sz="1100" dirty="0"/>
          </a:p>
        </p:txBody>
      </p:sp>
      <p:sp>
        <p:nvSpPr>
          <p:cNvPr id="4" name="Text 2"/>
          <p:cNvSpPr/>
          <p:nvPr>
            <p:ph idx="105" type="title" hasCustomPrompt="1"/>
          </p:nvPr>
        </p:nvSpPr>
        <p:spPr>
          <a:xfrm>
            <a:off x="566928" y="457200"/>
            <a:ext cx="7955280" cy="128016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We see the child</a:t>
            </a:r>
            <a:endParaRPr lang="en-US" sz="3600" dirty="0"/>
          </a:p>
          <a:p>
            <a:pPr algn="l" indent="0" marL="0">
              <a:lnSpc>
                <a:spcPct val="95000"/>
              </a:lnSpc>
              <a:buNone/>
            </a:pPr>
            <a:r>
              <a:rPr lang="en-US" sz="3600" b="1" dirty="0">
                <a:solidFill>
                  <a:schemeClr val="accent1"/>
                </a:solidFill>
              </a:rPr>
              <a:t>before the label.</a:t>
            </a:r>
            <a:endParaRPr lang="en-US" sz="3600" dirty="0"/>
          </a:p>
        </p:txBody>
      </p:sp>
      <p:sp>
        <p:nvSpPr>
          <p:cNvPr id="5" name="Text 2"/>
          <p:cNvSpPr txBox="1"/>
          <p:nvPr/>
        </p:nvSpPr>
        <p:spPr>
          <a:xfrm>
            <a:off x="548640" y="1874520"/>
            <a:ext cx="2743200" cy="274320"/>
          </a:xfrm>
          <a:prstGeom prst="rect">
            <a:avLst/>
          </a:prstGeom>
          <a:noFill/>
          <a:ln/>
        </p:spPr>
        <p:txBody>
          <a:bodyPr wrap="square" lIns="0" tIns="0" rIns="0" bIns="0" rtlCol="0" anchor="t"/>
          <a:lstStyle/>
          <a:p>
            <a:pPr indent="0" marL="0">
              <a:buNone/>
            </a:pPr>
            <a:r>
              <a:rPr lang="en-US" sz="1100" b="1" spc="140" kern="0" dirty="0">
                <a:solidFill>
                  <a:schemeClr val="tx1"/>
                </a:solidFill>
                <a:latin typeface="Lexend" pitchFamily="34" charset="0"/>
                <a:ea typeface="Lexend" pitchFamily="34" charset="-122"/>
                <a:cs typeface="Lexend" pitchFamily="34" charset="-120"/>
              </a:rPr>
              <a:t>WHO WE ARE</a:t>
            </a:r>
            <a:endParaRPr lang="en-US" sz="1100" dirty="0"/>
          </a:p>
        </p:txBody>
      </p:sp>
      <p:sp>
        <p:nvSpPr>
          <p:cNvPr id="6" name="Text 3"/>
          <p:cNvSpPr txBox="1"/>
          <p:nvPr/>
        </p:nvSpPr>
        <p:spPr>
          <a:xfrm>
            <a:off x="548640" y="2194560"/>
            <a:ext cx="5120640" cy="685800"/>
          </a:xfrm>
          <a:prstGeom prst="rect">
            <a:avLst/>
          </a:prstGeom>
          <a:noFill/>
          <a:ln/>
        </p:spPr>
        <p:txBody>
          <a:bodyPr wrap="square" lIns="0" tIns="0" rIns="0" bIns="0" rtlCol="0" anchor="t"/>
          <a:lstStyle/>
          <a:p>
            <a:pPr indent="0" marL="0">
              <a:buNone/>
            </a:pPr>
            <a:r>
              <a:rPr lang="en-US" sz="1800" dirty="0">
                <a:solidFill>
                  <a:schemeClr val="tx1"/>
                </a:solidFill>
              </a:rPr>
              <a:t>A multidisciplinary centre for children and adolescents.</a:t>
            </a:r>
            <a:endParaRPr lang="en-US" sz="1800" dirty="0"/>
          </a:p>
        </p:txBody>
      </p:sp>
      <p:sp>
        <p:nvSpPr>
          <p:cNvPr id="7" name="Experts, together circle"/>
          <p:cNvSpPr/>
          <p:nvPr/>
        </p:nvSpPr>
        <p:spPr>
          <a:xfrm>
            <a:off x="548640" y="2990088"/>
            <a:ext cx="512064" cy="512064"/>
          </a:xfrm>
          <a:prstGeom prst="ellipse">
            <a:avLst/>
          </a:prstGeom>
          <a:solidFill>
            <a:schemeClr val="accent1"/>
          </a:solidFill>
          <a:ln/>
        </p:spPr>
      </p:sp>
      <p:pic>
        <p:nvPicPr>
          <p:cNvPr id="8" name="Image 1" descr="Experts, together">    </p:cNvPr>
          <p:cNvPicPr>
            <a:picLocks noChangeAspect="1"/>
          </p:cNvPicPr>
          <p:nvPr/>
        </p:nvPicPr>
        <p:blipFill>
          <a:blip r:embed="rId2"/>
          <a:stretch>
            <a:fillRect/>
          </a:stretch>
        </p:blipFill>
        <p:spPr>
          <a:xfrm>
            <a:off x="686897" y="3128345"/>
            <a:ext cx="235549" cy="235549"/>
          </a:xfrm>
          <a:prstGeom prst="rect">
            <a:avLst/>
          </a:prstGeom>
        </p:spPr>
      </p:pic>
      <p:sp>
        <p:nvSpPr>
          <p:cNvPr id="9" name="Text 5"/>
          <p:cNvSpPr txBox="1"/>
          <p:nvPr/>
        </p:nvSpPr>
        <p:spPr>
          <a:xfrm>
            <a:off x="1280160" y="2971800"/>
            <a:ext cx="4389120" cy="274320"/>
          </a:xfrm>
          <a:prstGeom prst="rect">
            <a:avLst/>
          </a:prstGeom>
          <a:noFill/>
          <a:ln/>
        </p:spPr>
        <p:txBody>
          <a:bodyPr wrap="square" lIns="0" tIns="0" rIns="0" bIns="0" rtlCol="0" anchor="t"/>
          <a:lstStyle/>
          <a:p>
            <a:pPr indent="0" marL="0">
              <a:buNone/>
            </a:pPr>
            <a:r>
              <a:rPr lang="en-US" sz="1700" b="1" dirty="0">
                <a:solidFill>
                  <a:schemeClr val="tx1"/>
                </a:solidFill>
              </a:rPr>
              <a:t>Experts, together</a:t>
            </a:r>
            <a:endParaRPr lang="en-US" sz="1700" dirty="0"/>
          </a:p>
        </p:txBody>
      </p:sp>
      <p:sp>
        <p:nvSpPr>
          <p:cNvPr id="10" name="Text 6"/>
          <p:cNvSpPr txBox="1"/>
          <p:nvPr/>
        </p:nvSpPr>
        <p:spPr>
          <a:xfrm>
            <a:off x="1280160" y="3246120"/>
            <a:ext cx="4754880" cy="411480"/>
          </a:xfrm>
          <a:prstGeom prst="rect">
            <a:avLst/>
          </a:prstGeom>
          <a:noFill/>
          <a:ln/>
        </p:spPr>
        <p:txBody>
          <a:bodyPr wrap="square" lIns="0" tIns="0" rIns="0" bIns="0" rtlCol="0" anchor="t"/>
          <a:lstStyle/>
          <a:p>
            <a:pPr indent="0" marL="0">
              <a:buNone/>
            </a:pPr>
            <a:r>
              <a:rPr lang="en-US" sz="1400" dirty="0">
                <a:solidFill>
                  <a:schemeClr val="tx1"/>
                </a:solidFill>
              </a:rPr>
              <a:t>Psychology, speech &amp; language, OT and special education.</a:t>
            </a:r>
            <a:endParaRPr lang="en-US" sz="1400" dirty="0"/>
          </a:p>
        </p:txBody>
      </p:sp>
      <p:sp>
        <p:nvSpPr>
          <p:cNvPr id="11" name="The whole child circle"/>
          <p:cNvSpPr/>
          <p:nvPr/>
        </p:nvSpPr>
        <p:spPr>
          <a:xfrm>
            <a:off x="548640" y="3776472"/>
            <a:ext cx="512064" cy="512064"/>
          </a:xfrm>
          <a:prstGeom prst="ellipse">
            <a:avLst/>
          </a:prstGeom>
          <a:solidFill>
            <a:schemeClr val="accent1"/>
          </a:solidFill>
          <a:ln/>
        </p:spPr>
      </p:sp>
      <p:pic>
        <p:nvPicPr>
          <p:cNvPr id="12" name="Image 2" descr="The whole child">    </p:cNvPr>
          <p:cNvPicPr>
            <a:picLocks noChangeAspect="1"/>
          </p:cNvPicPr>
          <p:nvPr/>
        </p:nvPicPr>
        <p:blipFill>
          <a:blip r:embed="rId3"/>
          <a:stretch>
            <a:fillRect/>
          </a:stretch>
        </p:blipFill>
        <p:spPr>
          <a:xfrm>
            <a:off x="686897" y="3914729"/>
            <a:ext cx="235549" cy="235549"/>
          </a:xfrm>
          <a:prstGeom prst="rect">
            <a:avLst/>
          </a:prstGeom>
        </p:spPr>
      </p:pic>
      <p:sp>
        <p:nvSpPr>
          <p:cNvPr id="13" name="Text 8"/>
          <p:cNvSpPr txBox="1"/>
          <p:nvPr/>
        </p:nvSpPr>
        <p:spPr>
          <a:xfrm>
            <a:off x="1280160" y="3758184"/>
            <a:ext cx="4389120" cy="274320"/>
          </a:xfrm>
          <a:prstGeom prst="rect">
            <a:avLst/>
          </a:prstGeom>
          <a:noFill/>
          <a:ln/>
        </p:spPr>
        <p:txBody>
          <a:bodyPr wrap="square" lIns="0" tIns="0" rIns="0" bIns="0" rtlCol="0" anchor="t"/>
          <a:lstStyle/>
          <a:p>
            <a:pPr indent="0" marL="0">
              <a:buNone/>
            </a:pPr>
            <a:r>
              <a:rPr lang="en-US" sz="1700" b="1" dirty="0">
                <a:solidFill>
                  <a:schemeClr val="tx1"/>
                </a:solidFill>
              </a:rPr>
              <a:t>The whole child</a:t>
            </a:r>
            <a:endParaRPr lang="en-US" sz="1700" dirty="0"/>
          </a:p>
        </p:txBody>
      </p:sp>
      <p:sp>
        <p:nvSpPr>
          <p:cNvPr id="14" name="Text 9"/>
          <p:cNvSpPr txBox="1"/>
          <p:nvPr/>
        </p:nvSpPr>
        <p:spPr>
          <a:xfrm>
            <a:off x="1280160" y="4032504"/>
            <a:ext cx="4754880" cy="411480"/>
          </a:xfrm>
          <a:prstGeom prst="rect">
            <a:avLst/>
          </a:prstGeom>
          <a:noFill/>
          <a:ln/>
        </p:spPr>
        <p:txBody>
          <a:bodyPr wrap="square" lIns="0" tIns="0" rIns="0" bIns="0" rtlCol="0" anchor="t"/>
          <a:lstStyle/>
          <a:p>
            <a:pPr indent="0" marL="0">
              <a:buNone/>
            </a:pPr>
            <a:r>
              <a:rPr lang="en-US" sz="1400" dirty="0">
                <a:solidFill>
                  <a:schemeClr val="tx1"/>
                </a:solidFill>
              </a:rPr>
              <a:t>Communication, learning, emotions and daily life.</a:t>
            </a:r>
            <a:endParaRPr lang="en-US" sz="1400" dirty="0"/>
          </a:p>
        </p:txBody>
      </p:sp>
      <p:sp>
        <p:nvSpPr>
          <p:cNvPr id="15" name="Parents are partners circle"/>
          <p:cNvSpPr/>
          <p:nvPr/>
        </p:nvSpPr>
        <p:spPr>
          <a:xfrm>
            <a:off x="548640" y="4562856"/>
            <a:ext cx="512064" cy="512064"/>
          </a:xfrm>
          <a:prstGeom prst="ellipse">
            <a:avLst/>
          </a:prstGeom>
          <a:solidFill>
            <a:schemeClr val="accent1"/>
          </a:solidFill>
          <a:ln/>
        </p:spPr>
      </p:sp>
      <p:pic>
        <p:nvPicPr>
          <p:cNvPr id="16" name="Image 3" descr="Parents are partners">    </p:cNvPr>
          <p:cNvPicPr>
            <a:picLocks noChangeAspect="1"/>
          </p:cNvPicPr>
          <p:nvPr/>
        </p:nvPicPr>
        <p:blipFill>
          <a:blip r:embed="rId4"/>
          <a:stretch>
            <a:fillRect/>
          </a:stretch>
        </p:blipFill>
        <p:spPr>
          <a:xfrm>
            <a:off x="686897" y="4701113"/>
            <a:ext cx="235549" cy="235549"/>
          </a:xfrm>
          <a:prstGeom prst="rect">
            <a:avLst/>
          </a:prstGeom>
        </p:spPr>
      </p:pic>
      <p:sp>
        <p:nvSpPr>
          <p:cNvPr id="17" name="Text 11"/>
          <p:cNvSpPr txBox="1"/>
          <p:nvPr/>
        </p:nvSpPr>
        <p:spPr>
          <a:xfrm>
            <a:off x="1280160" y="4544568"/>
            <a:ext cx="4389120" cy="274320"/>
          </a:xfrm>
          <a:prstGeom prst="rect">
            <a:avLst/>
          </a:prstGeom>
          <a:noFill/>
          <a:ln/>
        </p:spPr>
        <p:txBody>
          <a:bodyPr wrap="square" lIns="0" tIns="0" rIns="0" bIns="0" rtlCol="0" anchor="t"/>
          <a:lstStyle/>
          <a:p>
            <a:pPr indent="0" marL="0">
              <a:buNone/>
            </a:pPr>
            <a:r>
              <a:rPr lang="en-US" sz="1700" b="1" dirty="0">
                <a:solidFill>
                  <a:schemeClr val="tx1"/>
                </a:solidFill>
              </a:rPr>
              <a:t>Parents are partners</a:t>
            </a:r>
            <a:endParaRPr lang="en-US" sz="1700" dirty="0"/>
          </a:p>
        </p:txBody>
      </p:sp>
      <p:sp>
        <p:nvSpPr>
          <p:cNvPr id="18" name="Text 12"/>
          <p:cNvSpPr txBox="1"/>
          <p:nvPr/>
        </p:nvSpPr>
        <p:spPr>
          <a:xfrm>
            <a:off x="1280160" y="4818888"/>
            <a:ext cx="4754880" cy="411480"/>
          </a:xfrm>
          <a:prstGeom prst="rect">
            <a:avLst/>
          </a:prstGeom>
          <a:noFill/>
          <a:ln/>
        </p:spPr>
        <p:txBody>
          <a:bodyPr wrap="square" lIns="0" tIns="0" rIns="0" bIns="0" rtlCol="0" anchor="t"/>
          <a:lstStyle/>
          <a:p>
            <a:pPr indent="0" marL="0">
              <a:buNone/>
            </a:pPr>
            <a:r>
              <a:rPr lang="en-US" sz="1400" dirty="0">
                <a:solidFill>
                  <a:schemeClr val="tx1"/>
                </a:solidFill>
              </a:rPr>
              <a:t>Families know their child best. We help them feel confident.</a:t>
            </a:r>
            <a:endParaRPr lang="en-US" sz="1400" dirty="0"/>
          </a:p>
        </p:txBody>
      </p:sp>
      <p:sp>
        <p:nvSpPr>
          <p:cNvPr id="19" name="Restraint over labels circle"/>
          <p:cNvSpPr/>
          <p:nvPr/>
        </p:nvSpPr>
        <p:spPr>
          <a:xfrm>
            <a:off x="548640" y="5349240"/>
            <a:ext cx="512064" cy="512064"/>
          </a:xfrm>
          <a:prstGeom prst="ellipse">
            <a:avLst/>
          </a:prstGeom>
          <a:solidFill>
            <a:schemeClr val="accent1"/>
          </a:solidFill>
          <a:ln/>
        </p:spPr>
      </p:sp>
      <p:pic>
        <p:nvPicPr>
          <p:cNvPr id="20" name="Image 4" descr="Restraint over labels">    </p:cNvPr>
          <p:cNvPicPr>
            <a:picLocks noChangeAspect="1"/>
          </p:cNvPicPr>
          <p:nvPr/>
        </p:nvPicPr>
        <p:blipFill>
          <a:blip r:embed="rId5"/>
          <a:stretch>
            <a:fillRect/>
          </a:stretch>
        </p:blipFill>
        <p:spPr>
          <a:xfrm>
            <a:off x="686897" y="5487497"/>
            <a:ext cx="235549" cy="235549"/>
          </a:xfrm>
          <a:prstGeom prst="rect">
            <a:avLst/>
          </a:prstGeom>
        </p:spPr>
      </p:pic>
      <p:sp>
        <p:nvSpPr>
          <p:cNvPr id="21" name="Text 14"/>
          <p:cNvSpPr txBox="1"/>
          <p:nvPr/>
        </p:nvSpPr>
        <p:spPr>
          <a:xfrm>
            <a:off x="1280160" y="5330952"/>
            <a:ext cx="4389120" cy="274320"/>
          </a:xfrm>
          <a:prstGeom prst="rect">
            <a:avLst/>
          </a:prstGeom>
          <a:noFill/>
          <a:ln/>
        </p:spPr>
        <p:txBody>
          <a:bodyPr wrap="square" lIns="0" tIns="0" rIns="0" bIns="0" rtlCol="0" anchor="t"/>
          <a:lstStyle/>
          <a:p>
            <a:pPr indent="0" marL="0">
              <a:buNone/>
            </a:pPr>
            <a:r>
              <a:rPr lang="en-US" sz="1700" b="1" dirty="0">
                <a:solidFill>
                  <a:schemeClr val="tx1"/>
                </a:solidFill>
              </a:rPr>
              <a:t>Restraint over labels</a:t>
            </a:r>
            <a:endParaRPr lang="en-US" sz="1700" dirty="0"/>
          </a:p>
        </p:txBody>
      </p:sp>
      <p:sp>
        <p:nvSpPr>
          <p:cNvPr id="22" name="Text 15"/>
          <p:cNvSpPr txBox="1"/>
          <p:nvPr/>
        </p:nvSpPr>
        <p:spPr>
          <a:xfrm>
            <a:off x="1280160" y="5605272"/>
            <a:ext cx="4754880" cy="411480"/>
          </a:xfrm>
          <a:prstGeom prst="rect">
            <a:avLst/>
          </a:prstGeom>
          <a:noFill/>
          <a:ln/>
        </p:spPr>
        <p:txBody>
          <a:bodyPr wrap="square" lIns="0" tIns="0" rIns="0" bIns="0" rtlCol="0" anchor="t"/>
          <a:lstStyle/>
          <a:p>
            <a:pPr indent="0" marL="0">
              <a:buNone/>
            </a:pPr>
            <a:r>
              <a:rPr lang="en-US" sz="1400" dirty="0">
                <a:solidFill>
                  <a:schemeClr val="tx1"/>
                </a:solidFill>
              </a:rPr>
              <a:t>A diagnosis is a last resort, used only when it truly helps.</a:t>
            </a:r>
            <a:endParaRPr lang="en-US" sz="1400" dirty="0"/>
          </a:p>
        </p:txBody>
      </p:sp>
      <p:sp>
        <p:nvSpPr>
          <p:cNvPr id="23" name="Text 16"/>
          <p:cNvSpPr txBox="1"/>
          <p:nvPr/>
        </p:nvSpPr>
        <p:spPr>
          <a:xfrm>
            <a:off x="6355080" y="1874520"/>
            <a:ext cx="2743200" cy="274320"/>
          </a:xfrm>
          <a:prstGeom prst="rect">
            <a:avLst/>
          </a:prstGeom>
          <a:noFill/>
          <a:ln/>
        </p:spPr>
        <p:txBody>
          <a:bodyPr wrap="square" lIns="0" tIns="0" rIns="0" bIns="0" rtlCol="0" anchor="t"/>
          <a:lstStyle/>
          <a:p>
            <a:pPr indent="0" marL="0">
              <a:buNone/>
            </a:pPr>
            <a:r>
              <a:rPr lang="en-US" sz="1100" b="1" spc="140" kern="0" dirty="0">
                <a:solidFill>
                  <a:schemeClr val="tx1"/>
                </a:solidFill>
                <a:latin typeface="Lexend" pitchFamily="34" charset="0"/>
                <a:ea typeface="Lexend" pitchFamily="34" charset="-122"/>
                <a:cs typeface="Lexend" pitchFamily="34" charset="-120"/>
              </a:rPr>
              <a:t>WHO WE TALK TO</a:t>
            </a:r>
            <a:endParaRPr lang="en-US" sz="1100" dirty="0"/>
          </a:p>
        </p:txBody>
      </p:sp>
      <p:sp>
        <p:nvSpPr>
          <p:cNvPr id="24" name="Parents &amp; caregivers card"/>
          <p:cNvSpPr/>
          <p:nvPr/>
        </p:nvSpPr>
        <p:spPr>
          <a:xfrm>
            <a:off x="6355080" y="2240280"/>
            <a:ext cx="5285232" cy="1691640"/>
          </a:xfrm>
          <a:prstGeom prst="roundRect">
            <a:avLst>
              <a:gd name="adj" fmla="val 11892"/>
            </a:avLst>
          </a:prstGeom>
          <a:solidFill>
            <a:schemeClr val="bg2"/>
          </a:solidFill>
          <a:ln/>
        </p:spPr>
      </p:sp>
      <p:sp>
        <p:nvSpPr>
          <p:cNvPr id="25" name="Parents &amp; caregivers circle"/>
          <p:cNvSpPr/>
          <p:nvPr/>
        </p:nvSpPr>
        <p:spPr>
          <a:xfrm>
            <a:off x="6629400" y="2532888"/>
            <a:ext cx="658368" cy="658368"/>
          </a:xfrm>
          <a:prstGeom prst="ellipse">
            <a:avLst/>
          </a:prstGeom>
          <a:solidFill>
            <a:schemeClr val="accent1"/>
          </a:solidFill>
          <a:ln/>
        </p:spPr>
      </p:sp>
      <p:pic>
        <p:nvPicPr>
          <p:cNvPr id="26" name="Image 5" descr="Parents &amp; caregivers">    </p:cNvPr>
          <p:cNvPicPr>
            <a:picLocks noChangeAspect="1"/>
          </p:cNvPicPr>
          <p:nvPr/>
        </p:nvPicPr>
        <p:blipFill>
          <a:blip r:embed="rId6"/>
          <a:stretch>
            <a:fillRect/>
          </a:stretch>
        </p:blipFill>
        <p:spPr>
          <a:xfrm>
            <a:off x="6807159" y="2710647"/>
            <a:ext cx="302849" cy="302849"/>
          </a:xfrm>
          <a:prstGeom prst="rect">
            <a:avLst/>
          </a:prstGeom>
        </p:spPr>
      </p:pic>
      <p:sp>
        <p:nvSpPr>
          <p:cNvPr id="27" name="Text 19"/>
          <p:cNvSpPr txBox="1"/>
          <p:nvPr/>
        </p:nvSpPr>
        <p:spPr>
          <a:xfrm>
            <a:off x="7498080" y="2514600"/>
            <a:ext cx="397764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Parents &amp; caregivers</a:t>
            </a:r>
            <a:endParaRPr lang="en-US" sz="2200" dirty="0"/>
          </a:p>
        </p:txBody>
      </p:sp>
      <p:sp>
        <p:nvSpPr>
          <p:cNvPr id="28" name="Text 20"/>
          <p:cNvSpPr txBox="1"/>
          <p:nvPr/>
        </p:nvSpPr>
        <p:spPr>
          <a:xfrm>
            <a:off x="7498080" y="2990088"/>
            <a:ext cx="2926080" cy="822960"/>
          </a:xfrm>
          <a:prstGeom prst="rect">
            <a:avLst/>
          </a:prstGeom>
          <a:noFill/>
          <a:ln/>
        </p:spPr>
        <p:txBody>
          <a:bodyPr wrap="square" lIns="0" tIns="0" rIns="0" bIns="0" rtlCol="0" anchor="t"/>
          <a:lstStyle/>
          <a:p>
            <a:pPr indent="0" marL="0">
              <a:buNone/>
            </a:pPr>
            <a:r>
              <a:rPr lang="en-US" sz="1600" dirty="0">
                <a:solidFill>
                  <a:schemeClr val="tx1"/>
                </a:solidFill>
              </a:rPr>
              <a:t>They want clear, kind answers. We help them feel understood and confident.</a:t>
            </a:r>
            <a:endParaRPr lang="en-US" sz="1600" dirty="0"/>
          </a:p>
        </p:txBody>
      </p:sp>
      <p:sp>
        <p:nvSpPr>
          <p:cNvPr id="29" name="Clinicians &amp; professionals card"/>
          <p:cNvSpPr/>
          <p:nvPr/>
        </p:nvSpPr>
        <p:spPr>
          <a:xfrm>
            <a:off x="6355080" y="4069080"/>
            <a:ext cx="5285232" cy="1691640"/>
          </a:xfrm>
          <a:prstGeom prst="roundRect">
            <a:avLst>
              <a:gd name="adj" fmla="val 11892"/>
            </a:avLst>
          </a:prstGeom>
          <a:solidFill>
            <a:schemeClr val="bg2"/>
          </a:solidFill>
          <a:ln/>
        </p:spPr>
      </p:sp>
      <p:sp>
        <p:nvSpPr>
          <p:cNvPr id="30" name="Clinicians &amp; professionals circle"/>
          <p:cNvSpPr/>
          <p:nvPr/>
        </p:nvSpPr>
        <p:spPr>
          <a:xfrm>
            <a:off x="6629400" y="4361688"/>
            <a:ext cx="658368" cy="658368"/>
          </a:xfrm>
          <a:prstGeom prst="ellipse">
            <a:avLst/>
          </a:prstGeom>
          <a:solidFill>
            <a:schemeClr val="accent1"/>
          </a:solidFill>
          <a:ln/>
        </p:spPr>
      </p:sp>
      <p:pic>
        <p:nvPicPr>
          <p:cNvPr id="31" name="Image 6" descr="Clinicians &amp; professionals">    </p:cNvPr>
          <p:cNvPicPr>
            <a:picLocks noChangeAspect="1"/>
          </p:cNvPicPr>
          <p:nvPr/>
        </p:nvPicPr>
        <p:blipFill>
          <a:blip r:embed="rId7"/>
          <a:stretch>
            <a:fillRect/>
          </a:stretch>
        </p:blipFill>
        <p:spPr>
          <a:xfrm>
            <a:off x="6807159" y="4539447"/>
            <a:ext cx="302849" cy="302849"/>
          </a:xfrm>
          <a:prstGeom prst="rect">
            <a:avLst/>
          </a:prstGeom>
        </p:spPr>
      </p:pic>
      <p:sp>
        <p:nvSpPr>
          <p:cNvPr id="32" name="Text 23"/>
          <p:cNvSpPr txBox="1"/>
          <p:nvPr/>
        </p:nvSpPr>
        <p:spPr>
          <a:xfrm>
            <a:off x="7498080" y="4343400"/>
            <a:ext cx="397764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Clinicians &amp; professionals</a:t>
            </a:r>
            <a:endParaRPr lang="en-US" sz="2200" dirty="0"/>
          </a:p>
        </p:txBody>
      </p:sp>
      <p:sp>
        <p:nvSpPr>
          <p:cNvPr id="33" name="Text 24"/>
          <p:cNvSpPr txBox="1"/>
          <p:nvPr/>
        </p:nvSpPr>
        <p:spPr>
          <a:xfrm>
            <a:off x="7498080" y="4818888"/>
            <a:ext cx="3931920" cy="822960"/>
          </a:xfrm>
          <a:prstGeom prst="rect">
            <a:avLst/>
          </a:prstGeom>
          <a:noFill/>
          <a:ln/>
        </p:spPr>
        <p:txBody>
          <a:bodyPr wrap="square" lIns="0" tIns="0" rIns="0" bIns="0" rtlCol="0" anchor="t"/>
          <a:lstStyle/>
          <a:p>
            <a:pPr indent="0" marL="0">
              <a:buNone/>
            </a:pPr>
            <a:r>
              <a:rPr lang="en-US" sz="1600" dirty="0">
                <a:solidFill>
                  <a:schemeClr val="tx1"/>
                </a:solidFill>
              </a:rPr>
              <a:t>SLPs, OTs, paediatricians. They want practical, clinical detail.</a:t>
            </a:r>
            <a:endParaRPr lang="en-US" sz="1600" dirty="0"/>
          </a:p>
        </p:txBody>
      </p:sp>
      <p:pic>
        <p:nvPicPr>
          <p:cNvPr id="34" name="Image 7" descr="Hand-drawn doodle of a parent crouching to talk with a child">    </p:cNvPr>
          <p:cNvPicPr>
            <a:picLocks noChangeAspect="1"/>
          </p:cNvPicPr>
          <p:nvPr/>
        </p:nvPicPr>
        <p:blipFill>
          <a:blip r:embed="rId8"/>
          <a:stretch>
            <a:fillRect/>
          </a:stretch>
        </p:blipFill>
        <p:spPr>
          <a:xfrm>
            <a:off x="10515600" y="2606040"/>
            <a:ext cx="1005840" cy="961949"/>
          </a:xfrm>
          <a:prstGeom prst="rect">
            <a:avLst/>
          </a:prstGeom>
        </p:spPr>
      </p:pic>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p:cNvSpPr/>
          <p:nvPr/>
        </p:nvSpPr>
        <p:spPr>
          <a:xfrm>
            <a:off x="9845345" y="502920"/>
            <a:ext cx="1797710" cy="329184"/>
          </a:xfrm>
          <a:prstGeom prst="roundRect">
            <a:avLst>
              <a:gd name="adj" fmla="val 50000"/>
            </a:avLst>
          </a:prstGeom>
          <a:solidFill>
            <a:schemeClr val="bg1"/>
          </a:solidFill>
          <a:ln/>
        </p:spPr>
        <p:txBody>
          <a:bodyPr wrap="square" lIns="0" tIns="0" rIns="0" bIns="0" rtlCol="0" anchor="ctr"/>
          <a:lstStyle/>
          <a:p>
            <a:pPr algn="ctr" indent="0" marL="0">
              <a:buNone/>
            </a:pPr>
            <a:r>
              <a:rPr lang="en-US" sz="1100" b="1" spc="120" kern="0" dirty="0">
                <a:solidFill>
                  <a:schemeClr val="tx1"/>
                </a:solidFill>
                <a:latin typeface="Lexend" pitchFamily="34" charset="0"/>
                <a:ea typeface="Lexend" pitchFamily="34" charset="-122"/>
                <a:cs typeface="Lexend" pitchFamily="34" charset="-120"/>
              </a:rPr>
              <a:t>VOICE &amp; TONE</a:t>
            </a:r>
            <a:endParaRPr lang="en-US" sz="1100" dirty="0"/>
          </a:p>
        </p:txBody>
      </p:sp>
      <p:sp>
        <p:nvSpPr>
          <p:cNvPr id="3" name="Text 2"/>
          <p:cNvSpPr/>
          <p:nvPr>
            <p:ph idx="105" type="title" hasCustomPrompt="1"/>
          </p:nvPr>
        </p:nvSpPr>
        <p:spPr>
          <a:xfrm>
            <a:off x="566928" y="457200"/>
            <a:ext cx="7955280" cy="128016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rPr>
              <a:t>Warm. Clear.</a:t>
            </a:r>
            <a:endParaRPr lang="en-US" sz="3600" dirty="0"/>
          </a:p>
          <a:p>
            <a:pPr algn="l" indent="0" marL="0">
              <a:lnSpc>
                <a:spcPct val="95000"/>
              </a:lnSpc>
              <a:buNone/>
            </a:pPr>
            <a:r>
              <a:rPr lang="en-US" sz="3600" b="1" dirty="0">
                <a:solidFill>
                  <a:schemeClr val="tx1"/>
                </a:solidFill>
              </a:rPr>
              <a:t>Never judging.</a:t>
            </a:r>
            <a:endParaRPr lang="en-US" sz="3600" dirty="0"/>
          </a:p>
        </p:txBody>
      </p:sp>
      <p:sp>
        <p:nvSpPr>
          <p:cNvPr id="4" name="Warm card"/>
          <p:cNvSpPr/>
          <p:nvPr/>
        </p:nvSpPr>
        <p:spPr>
          <a:xfrm>
            <a:off x="548640" y="1874520"/>
            <a:ext cx="2606040" cy="3383280"/>
          </a:xfrm>
          <a:prstGeom prst="roundRect">
            <a:avLst>
              <a:gd name="adj" fmla="val 7719"/>
            </a:avLst>
          </a:prstGeom>
          <a:solidFill>
            <a:schemeClr val="bg1"/>
          </a:solidFill>
          <a:ln/>
        </p:spPr>
      </p:sp>
      <p:sp>
        <p:nvSpPr>
          <p:cNvPr id="5" name="Warm circle"/>
          <p:cNvSpPr/>
          <p:nvPr/>
        </p:nvSpPr>
        <p:spPr>
          <a:xfrm>
            <a:off x="822960" y="2148840"/>
            <a:ext cx="658368" cy="658368"/>
          </a:xfrm>
          <a:prstGeom prst="ellipse">
            <a:avLst/>
          </a:prstGeom>
          <a:solidFill>
            <a:schemeClr val="accent1"/>
          </a:solidFill>
          <a:ln/>
        </p:spPr>
      </p:sp>
      <p:pic>
        <p:nvPicPr>
          <p:cNvPr id="6" name="Image 0" descr="Warm">    </p:cNvPr>
          <p:cNvPicPr>
            <a:picLocks noChangeAspect="1"/>
          </p:cNvPicPr>
          <p:nvPr/>
        </p:nvPicPr>
        <p:blipFill>
          <a:blip r:embed="rId1"/>
          <a:stretch>
            <a:fillRect/>
          </a:stretch>
        </p:blipFill>
        <p:spPr>
          <a:xfrm>
            <a:off x="1000719" y="2326599"/>
            <a:ext cx="302849" cy="302849"/>
          </a:xfrm>
          <a:prstGeom prst="rect">
            <a:avLst/>
          </a:prstGeom>
        </p:spPr>
      </p:pic>
      <p:sp>
        <p:nvSpPr>
          <p:cNvPr id="7" name="Text 4"/>
          <p:cNvSpPr txBox="1"/>
          <p:nvPr/>
        </p:nvSpPr>
        <p:spPr>
          <a:xfrm>
            <a:off x="822960" y="2944368"/>
            <a:ext cx="2103120" cy="41148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Warm</a:t>
            </a:r>
            <a:endParaRPr lang="en-US" sz="2400" dirty="0"/>
          </a:p>
        </p:txBody>
      </p:sp>
      <p:sp>
        <p:nvSpPr>
          <p:cNvPr id="8" name="Text 5"/>
          <p:cNvSpPr txBox="1"/>
          <p:nvPr/>
        </p:nvSpPr>
        <p:spPr>
          <a:xfrm>
            <a:off x="822960" y="3410712"/>
            <a:ext cx="2103120" cy="685800"/>
          </a:xfrm>
          <a:prstGeom prst="rect">
            <a:avLst/>
          </a:prstGeom>
          <a:noFill/>
          <a:ln/>
        </p:spPr>
        <p:txBody>
          <a:bodyPr wrap="square" lIns="0" tIns="0" rIns="0" bIns="0" rtlCol="0" anchor="t"/>
          <a:lstStyle/>
          <a:p>
            <a:pPr indent="0" marL="0">
              <a:buNone/>
            </a:pPr>
            <a:r>
              <a:rPr lang="en-US" sz="1550" dirty="0">
                <a:solidFill>
                  <a:schemeClr val="tx1"/>
                </a:solidFill>
              </a:rPr>
              <a:t>We lead with care, never with fear.</a:t>
            </a:r>
            <a:endParaRPr lang="en-US" sz="1550" dirty="0"/>
          </a:p>
        </p:txBody>
      </p:sp>
      <p:sp>
        <p:nvSpPr>
          <p:cNvPr id="9" name="Shape 6"/>
          <p:cNvSpPr/>
          <p:nvPr/>
        </p:nvSpPr>
        <p:spPr>
          <a:xfrm>
            <a:off x="822960" y="4206240"/>
            <a:ext cx="2057400" cy="0"/>
          </a:xfrm>
          <a:prstGeom prst="line">
            <a:avLst/>
          </a:prstGeom>
          <a:noFill/>
          <a:ln w="15875">
            <a:solidFill>
              <a:schemeClr val="accent1"/>
            </a:solidFill>
            <a:prstDash val="sysDot"/>
          </a:ln>
        </p:spPr>
      </p:sp>
      <p:sp>
        <p:nvSpPr>
          <p:cNvPr id="10" name="Text 7"/>
          <p:cNvSpPr txBox="1"/>
          <p:nvPr/>
        </p:nvSpPr>
        <p:spPr>
          <a:xfrm>
            <a:off x="822960" y="4343400"/>
            <a:ext cx="2103120" cy="201168"/>
          </a:xfrm>
          <a:prstGeom prst="rect">
            <a:avLst/>
          </a:prstGeom>
          <a:noFill/>
          <a:ln/>
        </p:spPr>
        <p:txBody>
          <a:bodyPr wrap="square" lIns="0" tIns="0" rIns="0" bIns="0" rtlCol="0" anchor="t"/>
          <a:lstStyle/>
          <a:p>
            <a:pPr indent="0" marL="0">
              <a:buNone/>
            </a:pPr>
            <a:r>
              <a:rPr lang="en-US" sz="1000" b="1" spc="140" kern="0" dirty="0">
                <a:solidFill>
                  <a:schemeClr val="tx1"/>
                </a:solidFill>
                <a:latin typeface="Lexend" pitchFamily="34" charset="0"/>
                <a:ea typeface="Lexend" pitchFamily="34" charset="-122"/>
                <a:cs typeface="Lexend" pitchFamily="34" charset="-120"/>
              </a:rPr>
              <a:t>SOUNDS LIKE</a:t>
            </a:r>
            <a:endParaRPr lang="en-US" sz="1000" dirty="0"/>
          </a:p>
        </p:txBody>
      </p:sp>
      <p:sp>
        <p:nvSpPr>
          <p:cNvPr id="11" name="Text 8"/>
          <p:cNvSpPr txBox="1"/>
          <p:nvPr/>
        </p:nvSpPr>
        <p:spPr>
          <a:xfrm>
            <a:off x="822960" y="4599432"/>
            <a:ext cx="2103120" cy="594360"/>
          </a:xfrm>
          <a:prstGeom prst="rect">
            <a:avLst/>
          </a:prstGeom>
          <a:noFill/>
          <a:ln/>
        </p:spPr>
        <p:txBody>
          <a:bodyPr wrap="square" lIns="0" tIns="0" rIns="0" bIns="0" rtlCol="0" anchor="t"/>
          <a:lstStyle/>
          <a:p>
            <a:pPr indent="0" marL="0">
              <a:buNone/>
            </a:pPr>
            <a:r>
              <a:rPr lang="en-US" sz="1450" i="1" dirty="0">
                <a:solidFill>
                  <a:schemeClr val="tx1"/>
                </a:solidFill>
                <a:latin typeface="+mj-lt" pitchFamily="34" charset="0"/>
                <a:ea typeface="+mj-lt" pitchFamily="34" charset="-122"/>
                <a:cs typeface="+mj-lt" pitchFamily="34" charset="-120"/>
              </a:rPr>
              <a:t>“A little understanding can go a long way.”</a:t>
            </a:r>
            <a:endParaRPr lang="en-US" sz="1450" dirty="0"/>
          </a:p>
        </p:txBody>
      </p:sp>
      <p:sp>
        <p:nvSpPr>
          <p:cNvPr id="12" name="Clear card"/>
          <p:cNvSpPr/>
          <p:nvPr/>
        </p:nvSpPr>
        <p:spPr>
          <a:xfrm>
            <a:off x="3378098" y="1874520"/>
            <a:ext cx="2606040" cy="3383280"/>
          </a:xfrm>
          <a:prstGeom prst="roundRect">
            <a:avLst>
              <a:gd name="adj" fmla="val 7719"/>
            </a:avLst>
          </a:prstGeom>
          <a:solidFill>
            <a:schemeClr val="bg1"/>
          </a:solidFill>
          <a:ln/>
        </p:spPr>
      </p:sp>
      <p:sp>
        <p:nvSpPr>
          <p:cNvPr id="13" name="Clear circle"/>
          <p:cNvSpPr/>
          <p:nvPr/>
        </p:nvSpPr>
        <p:spPr>
          <a:xfrm>
            <a:off x="3652418" y="2148840"/>
            <a:ext cx="658368" cy="658368"/>
          </a:xfrm>
          <a:prstGeom prst="ellipse">
            <a:avLst/>
          </a:prstGeom>
          <a:solidFill>
            <a:schemeClr val="accent1"/>
          </a:solidFill>
          <a:ln/>
        </p:spPr>
      </p:sp>
      <p:pic>
        <p:nvPicPr>
          <p:cNvPr id="14" name="Image 1" descr="Clear">    </p:cNvPr>
          <p:cNvPicPr>
            <a:picLocks noChangeAspect="1"/>
          </p:cNvPicPr>
          <p:nvPr/>
        </p:nvPicPr>
        <p:blipFill>
          <a:blip r:embed="rId2"/>
          <a:stretch>
            <a:fillRect/>
          </a:stretch>
        </p:blipFill>
        <p:spPr>
          <a:xfrm>
            <a:off x="3830178" y="2326599"/>
            <a:ext cx="302849" cy="302849"/>
          </a:xfrm>
          <a:prstGeom prst="rect">
            <a:avLst/>
          </a:prstGeom>
        </p:spPr>
      </p:pic>
      <p:sp>
        <p:nvSpPr>
          <p:cNvPr id="15" name="Text 11"/>
          <p:cNvSpPr txBox="1"/>
          <p:nvPr/>
        </p:nvSpPr>
        <p:spPr>
          <a:xfrm>
            <a:off x="3652418" y="2944368"/>
            <a:ext cx="2103120" cy="41148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Clear</a:t>
            </a:r>
            <a:endParaRPr lang="en-US" sz="2400" dirty="0"/>
          </a:p>
        </p:txBody>
      </p:sp>
      <p:sp>
        <p:nvSpPr>
          <p:cNvPr id="16" name="Text 12"/>
          <p:cNvSpPr txBox="1"/>
          <p:nvPr/>
        </p:nvSpPr>
        <p:spPr>
          <a:xfrm>
            <a:off x="3652418" y="3410712"/>
            <a:ext cx="2103120" cy="685800"/>
          </a:xfrm>
          <a:prstGeom prst="rect">
            <a:avLst/>
          </a:prstGeom>
          <a:noFill/>
          <a:ln/>
        </p:spPr>
        <p:txBody>
          <a:bodyPr wrap="square" lIns="0" tIns="0" rIns="0" bIns="0" rtlCol="0" anchor="t"/>
          <a:lstStyle/>
          <a:p>
            <a:pPr indent="0" marL="0">
              <a:buNone/>
            </a:pPr>
            <a:r>
              <a:rPr lang="en-US" sz="1550" dirty="0">
                <a:solidFill>
                  <a:schemeClr val="tx1"/>
                </a:solidFill>
              </a:rPr>
              <a:t>Simple words. One idea at a time.</a:t>
            </a:r>
            <a:endParaRPr lang="en-US" sz="1550" dirty="0"/>
          </a:p>
        </p:txBody>
      </p:sp>
      <p:sp>
        <p:nvSpPr>
          <p:cNvPr id="17" name="Shape 13"/>
          <p:cNvSpPr/>
          <p:nvPr/>
        </p:nvSpPr>
        <p:spPr>
          <a:xfrm>
            <a:off x="3652418" y="4206240"/>
            <a:ext cx="2057400" cy="0"/>
          </a:xfrm>
          <a:prstGeom prst="line">
            <a:avLst/>
          </a:prstGeom>
          <a:noFill/>
          <a:ln w="15875">
            <a:solidFill>
              <a:schemeClr val="accent1"/>
            </a:solidFill>
            <a:prstDash val="sysDot"/>
          </a:ln>
        </p:spPr>
      </p:sp>
      <p:sp>
        <p:nvSpPr>
          <p:cNvPr id="18" name="Text 14"/>
          <p:cNvSpPr txBox="1"/>
          <p:nvPr/>
        </p:nvSpPr>
        <p:spPr>
          <a:xfrm>
            <a:off x="3652418" y="4343400"/>
            <a:ext cx="2103120" cy="201168"/>
          </a:xfrm>
          <a:prstGeom prst="rect">
            <a:avLst/>
          </a:prstGeom>
          <a:noFill/>
          <a:ln/>
        </p:spPr>
        <p:txBody>
          <a:bodyPr wrap="square" lIns="0" tIns="0" rIns="0" bIns="0" rtlCol="0" anchor="t"/>
          <a:lstStyle/>
          <a:p>
            <a:pPr indent="0" marL="0">
              <a:buNone/>
            </a:pPr>
            <a:r>
              <a:rPr lang="en-US" sz="1000" b="1" spc="140" kern="0" dirty="0">
                <a:solidFill>
                  <a:schemeClr val="tx1"/>
                </a:solidFill>
                <a:latin typeface="Lexend" pitchFamily="34" charset="0"/>
                <a:ea typeface="Lexend" pitchFamily="34" charset="-122"/>
                <a:cs typeface="Lexend" pitchFamily="34" charset="-120"/>
              </a:rPr>
              <a:t>SOUNDS LIKE</a:t>
            </a:r>
            <a:endParaRPr lang="en-US" sz="1000" dirty="0"/>
          </a:p>
        </p:txBody>
      </p:sp>
      <p:sp>
        <p:nvSpPr>
          <p:cNvPr id="19" name="Text 15"/>
          <p:cNvSpPr txBox="1"/>
          <p:nvPr/>
        </p:nvSpPr>
        <p:spPr>
          <a:xfrm>
            <a:off x="3652418" y="4599432"/>
            <a:ext cx="2103120" cy="594360"/>
          </a:xfrm>
          <a:prstGeom prst="rect">
            <a:avLst/>
          </a:prstGeom>
          <a:noFill/>
          <a:ln/>
        </p:spPr>
        <p:txBody>
          <a:bodyPr wrap="square" lIns="0" tIns="0" rIns="0" bIns="0" rtlCol="0" anchor="t"/>
          <a:lstStyle/>
          <a:p>
            <a:pPr indent="0" marL="0">
              <a:buNone/>
            </a:pPr>
            <a:r>
              <a:rPr lang="en-US" sz="1450" i="1" dirty="0">
                <a:solidFill>
                  <a:schemeClr val="tx1"/>
                </a:solidFill>
                <a:latin typeface="+mj-lt" pitchFamily="34" charset="0"/>
                <a:ea typeface="+mj-lt" pitchFamily="34" charset="-122"/>
                <a:cs typeface="+mj-lt" pitchFamily="34" charset="-120"/>
              </a:rPr>
              <a:t>“Give clear, simple instructions.”</a:t>
            </a:r>
            <a:endParaRPr lang="en-US" sz="1450" dirty="0"/>
          </a:p>
        </p:txBody>
      </p:sp>
      <p:sp>
        <p:nvSpPr>
          <p:cNvPr id="20" name="Respectful card"/>
          <p:cNvSpPr/>
          <p:nvPr/>
        </p:nvSpPr>
        <p:spPr>
          <a:xfrm>
            <a:off x="6207557" y="1874520"/>
            <a:ext cx="2606040" cy="3383280"/>
          </a:xfrm>
          <a:prstGeom prst="roundRect">
            <a:avLst>
              <a:gd name="adj" fmla="val 7719"/>
            </a:avLst>
          </a:prstGeom>
          <a:solidFill>
            <a:schemeClr val="bg1"/>
          </a:solidFill>
          <a:ln/>
        </p:spPr>
      </p:sp>
      <p:sp>
        <p:nvSpPr>
          <p:cNvPr id="21" name="Respectful circle"/>
          <p:cNvSpPr/>
          <p:nvPr/>
        </p:nvSpPr>
        <p:spPr>
          <a:xfrm>
            <a:off x="6481877" y="2148840"/>
            <a:ext cx="658368" cy="658368"/>
          </a:xfrm>
          <a:prstGeom prst="ellipse">
            <a:avLst/>
          </a:prstGeom>
          <a:solidFill>
            <a:schemeClr val="accent1"/>
          </a:solidFill>
          <a:ln/>
        </p:spPr>
      </p:sp>
      <p:pic>
        <p:nvPicPr>
          <p:cNvPr id="22" name="Image 2" descr="Respectful">    </p:cNvPr>
          <p:cNvPicPr>
            <a:picLocks noChangeAspect="1"/>
          </p:cNvPicPr>
          <p:nvPr/>
        </p:nvPicPr>
        <p:blipFill>
          <a:blip r:embed="rId3"/>
          <a:stretch>
            <a:fillRect/>
          </a:stretch>
        </p:blipFill>
        <p:spPr>
          <a:xfrm>
            <a:off x="6659636" y="2326599"/>
            <a:ext cx="302849" cy="302849"/>
          </a:xfrm>
          <a:prstGeom prst="rect">
            <a:avLst/>
          </a:prstGeom>
        </p:spPr>
      </p:pic>
      <p:sp>
        <p:nvSpPr>
          <p:cNvPr id="23" name="Text 18"/>
          <p:cNvSpPr txBox="1"/>
          <p:nvPr/>
        </p:nvSpPr>
        <p:spPr>
          <a:xfrm>
            <a:off x="6481877" y="2944368"/>
            <a:ext cx="2103120" cy="41148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Respectful</a:t>
            </a:r>
            <a:endParaRPr lang="en-US" sz="2400" dirty="0"/>
          </a:p>
        </p:txBody>
      </p:sp>
      <p:sp>
        <p:nvSpPr>
          <p:cNvPr id="24" name="Text 19"/>
          <p:cNvSpPr txBox="1"/>
          <p:nvPr/>
        </p:nvSpPr>
        <p:spPr>
          <a:xfrm>
            <a:off x="6481877" y="3410712"/>
            <a:ext cx="2103120" cy="685800"/>
          </a:xfrm>
          <a:prstGeom prst="rect">
            <a:avLst/>
          </a:prstGeom>
          <a:noFill/>
          <a:ln/>
        </p:spPr>
        <p:txBody>
          <a:bodyPr wrap="square" lIns="0" tIns="0" rIns="0" bIns="0" rtlCol="0" anchor="t"/>
          <a:lstStyle/>
          <a:p>
            <a:pPr indent="0" marL="0">
              <a:buNone/>
            </a:pPr>
            <a:r>
              <a:rPr lang="en-US" sz="1550" dirty="0">
                <a:solidFill>
                  <a:schemeClr val="tx1"/>
                </a:solidFill>
              </a:rPr>
              <a:t>We never blame a child or a parent.</a:t>
            </a:r>
            <a:endParaRPr lang="en-US" sz="1550" dirty="0"/>
          </a:p>
        </p:txBody>
      </p:sp>
      <p:sp>
        <p:nvSpPr>
          <p:cNvPr id="25" name="Shape 20"/>
          <p:cNvSpPr/>
          <p:nvPr/>
        </p:nvSpPr>
        <p:spPr>
          <a:xfrm>
            <a:off x="6481877" y="4206240"/>
            <a:ext cx="2057400" cy="0"/>
          </a:xfrm>
          <a:prstGeom prst="line">
            <a:avLst/>
          </a:prstGeom>
          <a:noFill/>
          <a:ln w="15875">
            <a:solidFill>
              <a:schemeClr val="accent1"/>
            </a:solidFill>
            <a:prstDash val="sysDot"/>
          </a:ln>
        </p:spPr>
      </p:sp>
      <p:sp>
        <p:nvSpPr>
          <p:cNvPr id="26" name="Text 21"/>
          <p:cNvSpPr txBox="1"/>
          <p:nvPr/>
        </p:nvSpPr>
        <p:spPr>
          <a:xfrm>
            <a:off x="6481877" y="4343400"/>
            <a:ext cx="2103120" cy="201168"/>
          </a:xfrm>
          <a:prstGeom prst="rect">
            <a:avLst/>
          </a:prstGeom>
          <a:noFill/>
          <a:ln/>
        </p:spPr>
        <p:txBody>
          <a:bodyPr wrap="square" lIns="0" tIns="0" rIns="0" bIns="0" rtlCol="0" anchor="t"/>
          <a:lstStyle/>
          <a:p>
            <a:pPr indent="0" marL="0">
              <a:buNone/>
            </a:pPr>
            <a:r>
              <a:rPr lang="en-US" sz="1000" b="1" spc="140" kern="0" dirty="0">
                <a:solidFill>
                  <a:schemeClr val="tx1"/>
                </a:solidFill>
                <a:latin typeface="Lexend" pitchFamily="34" charset="0"/>
                <a:ea typeface="Lexend" pitchFamily="34" charset="-122"/>
                <a:cs typeface="Lexend" pitchFamily="34" charset="-120"/>
              </a:rPr>
              <a:t>SOUNDS LIKE</a:t>
            </a:r>
            <a:endParaRPr lang="en-US" sz="1000" dirty="0"/>
          </a:p>
        </p:txBody>
      </p:sp>
      <p:sp>
        <p:nvSpPr>
          <p:cNvPr id="27" name="Text 22"/>
          <p:cNvSpPr txBox="1"/>
          <p:nvPr/>
        </p:nvSpPr>
        <p:spPr>
          <a:xfrm>
            <a:off x="6481877" y="4599432"/>
            <a:ext cx="2103120" cy="594360"/>
          </a:xfrm>
          <a:prstGeom prst="rect">
            <a:avLst/>
          </a:prstGeom>
          <a:noFill/>
          <a:ln/>
        </p:spPr>
        <p:txBody>
          <a:bodyPr wrap="square" lIns="0" tIns="0" rIns="0" bIns="0" rtlCol="0" anchor="t"/>
          <a:lstStyle/>
          <a:p>
            <a:pPr indent="0" marL="0">
              <a:buNone/>
            </a:pPr>
            <a:r>
              <a:rPr lang="en-US" sz="1450" i="1" dirty="0">
                <a:solidFill>
                  <a:schemeClr val="tx1"/>
                </a:solidFill>
                <a:latin typeface="+mj-lt" pitchFamily="34" charset="0"/>
                <a:ea typeface="+mj-lt" pitchFamily="34" charset="-122"/>
                <a:cs typeface="+mj-lt" pitchFamily="34" charset="-120"/>
              </a:rPr>
              <a:t>“Struggling doesn’t mean not trying.”</a:t>
            </a:r>
            <a:endParaRPr lang="en-US" sz="1450" dirty="0"/>
          </a:p>
        </p:txBody>
      </p:sp>
      <p:sp>
        <p:nvSpPr>
          <p:cNvPr id="28" name="Expert card"/>
          <p:cNvSpPr/>
          <p:nvPr/>
        </p:nvSpPr>
        <p:spPr>
          <a:xfrm>
            <a:off x="9037015" y="1874520"/>
            <a:ext cx="2606040" cy="3383280"/>
          </a:xfrm>
          <a:prstGeom prst="roundRect">
            <a:avLst>
              <a:gd name="adj" fmla="val 7719"/>
            </a:avLst>
          </a:prstGeom>
          <a:solidFill>
            <a:schemeClr val="bg1"/>
          </a:solidFill>
          <a:ln/>
        </p:spPr>
      </p:sp>
      <p:sp>
        <p:nvSpPr>
          <p:cNvPr id="29" name="Expert circle"/>
          <p:cNvSpPr/>
          <p:nvPr/>
        </p:nvSpPr>
        <p:spPr>
          <a:xfrm>
            <a:off x="9311335" y="2148840"/>
            <a:ext cx="658368" cy="658368"/>
          </a:xfrm>
          <a:prstGeom prst="ellipse">
            <a:avLst/>
          </a:prstGeom>
          <a:solidFill>
            <a:schemeClr val="accent1"/>
          </a:solidFill>
          <a:ln/>
        </p:spPr>
      </p:sp>
      <p:pic>
        <p:nvPicPr>
          <p:cNvPr id="30" name="Image 3" descr="Expert">    </p:cNvPr>
          <p:cNvPicPr>
            <a:picLocks noChangeAspect="1"/>
          </p:cNvPicPr>
          <p:nvPr/>
        </p:nvPicPr>
        <p:blipFill>
          <a:blip r:embed="rId4"/>
          <a:stretch>
            <a:fillRect/>
          </a:stretch>
        </p:blipFill>
        <p:spPr>
          <a:xfrm>
            <a:off x="9489095" y="2326599"/>
            <a:ext cx="302849" cy="302849"/>
          </a:xfrm>
          <a:prstGeom prst="rect">
            <a:avLst/>
          </a:prstGeom>
        </p:spPr>
      </p:pic>
      <p:sp>
        <p:nvSpPr>
          <p:cNvPr id="31" name="Text 25"/>
          <p:cNvSpPr txBox="1"/>
          <p:nvPr/>
        </p:nvSpPr>
        <p:spPr>
          <a:xfrm>
            <a:off x="9311335" y="2944368"/>
            <a:ext cx="2103120" cy="41148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Expert</a:t>
            </a:r>
            <a:endParaRPr lang="en-US" sz="2400" dirty="0"/>
          </a:p>
        </p:txBody>
      </p:sp>
      <p:sp>
        <p:nvSpPr>
          <p:cNvPr id="32" name="Text 26"/>
          <p:cNvSpPr txBox="1"/>
          <p:nvPr/>
        </p:nvSpPr>
        <p:spPr>
          <a:xfrm>
            <a:off x="9311335" y="3410712"/>
            <a:ext cx="2103120" cy="685800"/>
          </a:xfrm>
          <a:prstGeom prst="rect">
            <a:avLst/>
          </a:prstGeom>
          <a:noFill/>
          <a:ln/>
        </p:spPr>
        <p:txBody>
          <a:bodyPr wrap="square" lIns="0" tIns="0" rIns="0" bIns="0" rtlCol="0" anchor="t"/>
          <a:lstStyle/>
          <a:p>
            <a:pPr indent="0" marL="0">
              <a:buNone/>
            </a:pPr>
            <a:r>
              <a:rPr lang="en-US" sz="1550" dirty="0">
                <a:solidFill>
                  <a:schemeClr val="tx1"/>
                </a:solidFill>
              </a:rPr>
              <a:t>We know the science and explain it simply.</a:t>
            </a:r>
            <a:endParaRPr lang="en-US" sz="1550" dirty="0"/>
          </a:p>
        </p:txBody>
      </p:sp>
      <p:sp>
        <p:nvSpPr>
          <p:cNvPr id="33" name="Shape 27"/>
          <p:cNvSpPr/>
          <p:nvPr/>
        </p:nvSpPr>
        <p:spPr>
          <a:xfrm>
            <a:off x="9311335" y="4206240"/>
            <a:ext cx="2057400" cy="0"/>
          </a:xfrm>
          <a:prstGeom prst="line">
            <a:avLst/>
          </a:prstGeom>
          <a:noFill/>
          <a:ln w="15875">
            <a:solidFill>
              <a:schemeClr val="accent1"/>
            </a:solidFill>
            <a:prstDash val="sysDot"/>
          </a:ln>
        </p:spPr>
      </p:sp>
      <p:sp>
        <p:nvSpPr>
          <p:cNvPr id="34" name="Text 28"/>
          <p:cNvSpPr txBox="1"/>
          <p:nvPr/>
        </p:nvSpPr>
        <p:spPr>
          <a:xfrm>
            <a:off x="9311335" y="4343400"/>
            <a:ext cx="2103120" cy="201168"/>
          </a:xfrm>
          <a:prstGeom prst="rect">
            <a:avLst/>
          </a:prstGeom>
          <a:noFill/>
          <a:ln/>
        </p:spPr>
        <p:txBody>
          <a:bodyPr wrap="square" lIns="0" tIns="0" rIns="0" bIns="0" rtlCol="0" anchor="t"/>
          <a:lstStyle/>
          <a:p>
            <a:pPr indent="0" marL="0">
              <a:buNone/>
            </a:pPr>
            <a:r>
              <a:rPr lang="en-US" sz="1000" b="1" spc="140" kern="0" dirty="0">
                <a:solidFill>
                  <a:schemeClr val="tx1"/>
                </a:solidFill>
                <a:latin typeface="Lexend" pitchFamily="34" charset="0"/>
                <a:ea typeface="Lexend" pitchFamily="34" charset="-122"/>
                <a:cs typeface="Lexend" pitchFamily="34" charset="-120"/>
              </a:rPr>
              <a:t>SOUNDS LIKE</a:t>
            </a:r>
            <a:endParaRPr lang="en-US" sz="1000" dirty="0"/>
          </a:p>
        </p:txBody>
      </p:sp>
      <p:sp>
        <p:nvSpPr>
          <p:cNvPr id="35" name="Text 29"/>
          <p:cNvSpPr txBox="1"/>
          <p:nvPr/>
        </p:nvSpPr>
        <p:spPr>
          <a:xfrm>
            <a:off x="9311335" y="4599432"/>
            <a:ext cx="2103120" cy="594360"/>
          </a:xfrm>
          <a:prstGeom prst="rect">
            <a:avLst/>
          </a:prstGeom>
          <a:noFill/>
          <a:ln/>
        </p:spPr>
        <p:txBody>
          <a:bodyPr wrap="square" lIns="0" tIns="0" rIns="0" bIns="0" rtlCol="0" anchor="t"/>
          <a:lstStyle/>
          <a:p>
            <a:pPr indent="0" marL="0">
              <a:buNone/>
            </a:pPr>
            <a:r>
              <a:rPr lang="en-US" sz="1450" i="1" dirty="0">
                <a:solidFill>
                  <a:schemeClr val="tx1"/>
                </a:solidFill>
                <a:latin typeface="+mj-lt" pitchFamily="34" charset="0"/>
                <a:ea typeface="+mj-lt" pitchFamily="34" charset="-122"/>
                <a:cs typeface="+mj-lt" pitchFamily="34" charset="-120"/>
              </a:rPr>
              <a:t>“Look beyond the presenting concern.”</a:t>
            </a:r>
            <a:endParaRPr lang="en-US" sz="1450" dirty="0"/>
          </a:p>
        </p:txBody>
      </p:sp>
      <p:sp>
        <p:nvSpPr>
          <p:cNvPr id="36" name="Voice reminder"/>
          <p:cNvSpPr/>
          <p:nvPr/>
        </p:nvSpPr>
        <p:spPr>
          <a:xfrm>
            <a:off x="548640" y="5486400"/>
            <a:ext cx="5394960" cy="457200"/>
          </a:xfrm>
          <a:prstGeom prst="roundRect">
            <a:avLst>
              <a:gd name="adj" fmla="val 50000"/>
            </a:avLst>
          </a:prstGeom>
          <a:solidFill>
            <a:schemeClr val="tx1"/>
          </a:solidFill>
          <a:ln/>
        </p:spPr>
        <p:txBody>
          <a:bodyPr wrap="square" lIns="0" tIns="0" rIns="0" bIns="0" rtlCol="0" anchor="ctr"/>
          <a:lstStyle/>
          <a:p>
            <a:pPr algn="ctr" indent="0" marL="0">
              <a:buNone/>
            </a:pPr>
            <a:r>
              <a:rPr lang="en-US" sz="1500" b="1" spc="120" kern="0" dirty="0">
                <a:solidFill>
                  <a:schemeClr val="bg1"/>
                </a:solidFill>
                <a:latin typeface="Lexend" pitchFamily="34" charset="0"/>
                <a:ea typeface="Lexend" pitchFamily="34" charset="-122"/>
                <a:cs typeface="Lexend" pitchFamily="34" charset="-120"/>
              </a:rPr>
              <a:t>Sound like a kind expert, not a textbook.</a:t>
            </a:r>
            <a:endParaRPr lang="en-US" sz="15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oft cream blob">    </p:cNvPr>
          <p:cNvPicPr>
            <a:picLocks noChangeAspect="1"/>
          </p:cNvPicPr>
          <p:nvPr/>
        </p:nvPicPr>
        <p:blipFill>
          <a:blip r:embed="rId1"/>
          <a:stretch>
            <a:fillRect/>
          </a:stretch>
        </p:blipFill>
        <p:spPr>
          <a:xfrm>
            <a:off x="7818120" y="0"/>
            <a:ext cx="4370832" cy="2423160"/>
          </a:xfrm>
          <a:prstGeom prst="rect">
            <a:avLst/>
          </a:prstGeom>
        </p:spPr>
      </p:pic>
      <p:sp>
        <p:nvSpPr>
          <p:cNvPr id="3" name="Section tag"/>
          <p:cNvSpPr/>
          <p:nvPr/>
        </p:nvSpPr>
        <p:spPr>
          <a:xfrm>
            <a:off x="8118958" y="502920"/>
            <a:ext cx="3524098"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20" kern="0" dirty="0">
                <a:solidFill>
                  <a:schemeClr val="bg1"/>
                </a:solidFill>
                <a:latin typeface="Lexend" pitchFamily="34" charset="0"/>
                <a:ea typeface="Lexend" pitchFamily="34" charset="-122"/>
                <a:cs typeface="Lexend" pitchFamily="34" charset="-120"/>
              </a:rPr>
              <a:t>HOOKS · HEADLINES · CAPTIONS</a:t>
            </a:r>
            <a:endParaRPr lang="en-US" sz="1100" dirty="0"/>
          </a:p>
        </p:txBody>
      </p:sp>
      <p:sp>
        <p:nvSpPr>
          <p:cNvPr id="4" name="Text 2"/>
          <p:cNvSpPr/>
          <p:nvPr>
            <p:ph idx="105" type="title" hasCustomPrompt="1"/>
          </p:nvPr>
        </p:nvSpPr>
        <p:spPr>
          <a:xfrm>
            <a:off x="566928" y="457200"/>
            <a:ext cx="7955280" cy="128016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Challenge the label.</a:t>
            </a:r>
            <a:endParaRPr lang="en-US" sz="3600" dirty="0"/>
          </a:p>
          <a:p>
            <a:pPr algn="l" indent="0" marL="0">
              <a:lnSpc>
                <a:spcPct val="95000"/>
              </a:lnSpc>
              <a:buNone/>
            </a:pPr>
            <a:r>
              <a:rPr lang="en-US" sz="3600" b="1" dirty="0">
                <a:solidFill>
                  <a:schemeClr val="accent1"/>
                </a:solidFill>
              </a:rPr>
              <a:t>Then offer help.</a:t>
            </a:r>
            <a:endParaRPr lang="en-US" sz="3600" dirty="0"/>
          </a:p>
        </p:txBody>
      </p:sp>
      <p:sp>
        <p:nvSpPr>
          <p:cNvPr id="5" name="Hooks card"/>
          <p:cNvSpPr/>
          <p:nvPr/>
        </p:nvSpPr>
        <p:spPr>
          <a:xfrm>
            <a:off x="548640" y="1920240"/>
            <a:ext cx="3520440" cy="3794760"/>
          </a:xfrm>
          <a:prstGeom prst="roundRect">
            <a:avLst>
              <a:gd name="adj" fmla="val 5714"/>
            </a:avLst>
          </a:prstGeom>
          <a:solidFill>
            <a:schemeClr val="bg2"/>
          </a:solidFill>
          <a:ln/>
        </p:spPr>
      </p:sp>
      <p:sp>
        <p:nvSpPr>
          <p:cNvPr id="6" name="Text 3"/>
          <p:cNvSpPr txBox="1"/>
          <p:nvPr/>
        </p:nvSpPr>
        <p:spPr>
          <a:xfrm>
            <a:off x="777240" y="2121408"/>
            <a:ext cx="3017520" cy="36576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Hooks</a:t>
            </a:r>
            <a:endParaRPr lang="en-US" sz="2400" dirty="0"/>
          </a:p>
        </p:txBody>
      </p:sp>
      <p:sp>
        <p:nvSpPr>
          <p:cNvPr id="7" name="Text 4"/>
          <p:cNvSpPr txBox="1"/>
          <p:nvPr/>
        </p:nvSpPr>
        <p:spPr>
          <a:xfrm>
            <a:off x="777240" y="2560320"/>
            <a:ext cx="3108960" cy="274320"/>
          </a:xfrm>
          <a:prstGeom prst="rect">
            <a:avLst/>
          </a:prstGeom>
          <a:noFill/>
          <a:ln/>
        </p:spPr>
        <p:txBody>
          <a:bodyPr wrap="square" lIns="0" tIns="0" rIns="0" bIns="0" rtlCol="0" anchor="t"/>
          <a:lstStyle/>
          <a:p>
            <a:pPr indent="0" marL="0">
              <a:buNone/>
            </a:pPr>
            <a:r>
              <a:rPr lang="en-US" sz="1500" dirty="0">
                <a:solidFill>
                  <a:schemeClr val="tx1"/>
                </a:solidFill>
              </a:rPr>
              <a:t>Open with a myth or a question.</a:t>
            </a:r>
            <a:endParaRPr lang="en-US" sz="1500" dirty="0"/>
          </a:p>
        </p:txBody>
      </p:sp>
      <p:sp>
        <p:nvSpPr>
          <p:cNvPr id="8" name="Hook example 1"/>
          <p:cNvSpPr/>
          <p:nvPr/>
        </p:nvSpPr>
        <p:spPr>
          <a:xfrm>
            <a:off x="777240" y="2971800"/>
            <a:ext cx="3063240" cy="804672"/>
          </a:xfrm>
          <a:prstGeom prst="roundRect">
            <a:avLst>
              <a:gd name="adj" fmla="val 18182"/>
            </a:avLst>
          </a:prstGeom>
          <a:solidFill>
            <a:schemeClr val="bg1"/>
          </a:solidFill>
          <a:ln/>
        </p:spPr>
      </p:sp>
      <p:sp>
        <p:nvSpPr>
          <p:cNvPr id="9" name="Text 6"/>
          <p:cNvSpPr txBox="1"/>
          <p:nvPr/>
        </p:nvSpPr>
        <p:spPr>
          <a:xfrm>
            <a:off x="960120" y="3081528"/>
            <a:ext cx="2743200" cy="182880"/>
          </a:xfrm>
          <a:prstGeom prst="rect">
            <a:avLst/>
          </a:prstGeom>
          <a:noFill/>
          <a:ln/>
        </p:spPr>
        <p:txBody>
          <a:bodyPr wrap="square" lIns="0" tIns="0" rIns="0" bIns="0" rtlCol="0" anchor="t"/>
          <a:lstStyle/>
          <a:p>
            <a:pPr indent="0" marL="0">
              <a:buNone/>
            </a:pPr>
            <a:r>
              <a:rPr lang="en-US" sz="1000" b="1" spc="120" kern="0" dirty="0">
                <a:solidFill>
                  <a:schemeClr val="tx1"/>
                </a:solidFill>
                <a:latin typeface="Lexend" pitchFamily="34" charset="0"/>
                <a:ea typeface="Lexend" pitchFamily="34" charset="-122"/>
                <a:cs typeface="Lexend" pitchFamily="34" charset="-120"/>
              </a:rPr>
              <a:t>QUESTION A LABEL</a:t>
            </a:r>
            <a:endParaRPr lang="en-US" sz="1000" dirty="0"/>
          </a:p>
        </p:txBody>
      </p:sp>
      <p:sp>
        <p:nvSpPr>
          <p:cNvPr id="10" name="Text 7"/>
          <p:cNvSpPr txBox="1"/>
          <p:nvPr/>
        </p:nvSpPr>
        <p:spPr>
          <a:xfrm>
            <a:off x="960120" y="3310128"/>
            <a:ext cx="2834640" cy="457200"/>
          </a:xfrm>
          <a:prstGeom prst="rect">
            <a:avLst/>
          </a:prstGeom>
          <a:noFill/>
          <a:ln/>
        </p:spPr>
        <p:txBody>
          <a:bodyPr wrap="square" lIns="0" tIns="0" rIns="0" bIns="0" rtlCol="0" anchor="t"/>
          <a:lstStyle/>
          <a:p>
            <a:pPr indent="0" marL="0">
              <a:buNone/>
            </a:pPr>
            <a:r>
              <a:rPr lang="en-US" sz="1400" i="1" dirty="0">
                <a:solidFill>
                  <a:schemeClr val="tx1"/>
                </a:solidFill>
                <a:latin typeface="+mj-lt" pitchFamily="34" charset="0"/>
                <a:ea typeface="+mj-lt" pitchFamily="34" charset="-122"/>
                <a:cs typeface="+mj-lt" pitchFamily="34" charset="-120"/>
              </a:rPr>
              <a:t>“Struggling Doesn’t Mean Not Trying.”</a:t>
            </a:r>
            <a:endParaRPr lang="en-US" sz="1400" dirty="0"/>
          </a:p>
        </p:txBody>
      </p:sp>
      <p:sp>
        <p:nvSpPr>
          <p:cNvPr id="11" name="Hook example 2"/>
          <p:cNvSpPr/>
          <p:nvPr/>
        </p:nvSpPr>
        <p:spPr>
          <a:xfrm>
            <a:off x="777240" y="3886200"/>
            <a:ext cx="3063240" cy="804672"/>
          </a:xfrm>
          <a:prstGeom prst="roundRect">
            <a:avLst>
              <a:gd name="adj" fmla="val 18182"/>
            </a:avLst>
          </a:prstGeom>
          <a:solidFill>
            <a:schemeClr val="bg1"/>
          </a:solidFill>
          <a:ln/>
        </p:spPr>
      </p:sp>
      <p:sp>
        <p:nvSpPr>
          <p:cNvPr id="12" name="Text 9"/>
          <p:cNvSpPr txBox="1"/>
          <p:nvPr/>
        </p:nvSpPr>
        <p:spPr>
          <a:xfrm>
            <a:off x="960120" y="3995928"/>
            <a:ext cx="2743200" cy="182880"/>
          </a:xfrm>
          <a:prstGeom prst="rect">
            <a:avLst/>
          </a:prstGeom>
          <a:noFill/>
          <a:ln/>
        </p:spPr>
        <p:txBody>
          <a:bodyPr wrap="square" lIns="0" tIns="0" rIns="0" bIns="0" rtlCol="0" anchor="t"/>
          <a:lstStyle/>
          <a:p>
            <a:pPr indent="0" marL="0">
              <a:buNone/>
            </a:pPr>
            <a:r>
              <a:rPr lang="en-US" sz="1000" b="1" spc="120" kern="0" dirty="0">
                <a:solidFill>
                  <a:schemeClr val="tx1"/>
                </a:solidFill>
                <a:latin typeface="Lexend" pitchFamily="34" charset="0"/>
                <a:ea typeface="Lexend" pitchFamily="34" charset="-122"/>
                <a:cs typeface="Lexend" pitchFamily="34" charset="-120"/>
              </a:rPr>
              <a:t>WIDEN THE VIEW</a:t>
            </a:r>
            <a:endParaRPr lang="en-US" sz="1000" dirty="0"/>
          </a:p>
        </p:txBody>
      </p:sp>
      <p:sp>
        <p:nvSpPr>
          <p:cNvPr id="13" name="Text 10"/>
          <p:cNvSpPr txBox="1"/>
          <p:nvPr/>
        </p:nvSpPr>
        <p:spPr>
          <a:xfrm>
            <a:off x="960120" y="4224528"/>
            <a:ext cx="2834640" cy="457200"/>
          </a:xfrm>
          <a:prstGeom prst="rect">
            <a:avLst/>
          </a:prstGeom>
          <a:noFill/>
          <a:ln/>
        </p:spPr>
        <p:txBody>
          <a:bodyPr wrap="square" lIns="0" tIns="0" rIns="0" bIns="0" rtlCol="0" anchor="t"/>
          <a:lstStyle/>
          <a:p>
            <a:pPr indent="0" marL="0">
              <a:buNone/>
            </a:pPr>
            <a:r>
              <a:rPr lang="en-US" sz="1400" i="1" dirty="0">
                <a:solidFill>
                  <a:schemeClr val="tx1"/>
                </a:solidFill>
                <a:latin typeface="+mj-lt" pitchFamily="34" charset="0"/>
                <a:ea typeface="+mj-lt" pitchFamily="34" charset="-122"/>
                <a:cs typeface="+mj-lt" pitchFamily="34" charset="-120"/>
              </a:rPr>
              <a:t>“ADHD is more than just being ‘Hyper’”</a:t>
            </a:r>
            <a:endParaRPr lang="en-US" sz="1400" dirty="0"/>
          </a:p>
        </p:txBody>
      </p:sp>
      <p:sp>
        <p:nvSpPr>
          <p:cNvPr id="14" name="Hook example 3"/>
          <p:cNvSpPr/>
          <p:nvPr/>
        </p:nvSpPr>
        <p:spPr>
          <a:xfrm>
            <a:off x="777240" y="4800600"/>
            <a:ext cx="3063240" cy="804672"/>
          </a:xfrm>
          <a:prstGeom prst="roundRect">
            <a:avLst>
              <a:gd name="adj" fmla="val 18182"/>
            </a:avLst>
          </a:prstGeom>
          <a:solidFill>
            <a:schemeClr val="bg1"/>
          </a:solidFill>
          <a:ln/>
        </p:spPr>
      </p:sp>
      <p:sp>
        <p:nvSpPr>
          <p:cNvPr id="15" name="Text 12"/>
          <p:cNvSpPr txBox="1"/>
          <p:nvPr/>
        </p:nvSpPr>
        <p:spPr>
          <a:xfrm>
            <a:off x="960120" y="4910328"/>
            <a:ext cx="2743200" cy="182880"/>
          </a:xfrm>
          <a:prstGeom prst="rect">
            <a:avLst/>
          </a:prstGeom>
          <a:noFill/>
          <a:ln/>
        </p:spPr>
        <p:txBody>
          <a:bodyPr wrap="square" lIns="0" tIns="0" rIns="0" bIns="0" rtlCol="0" anchor="t"/>
          <a:lstStyle/>
          <a:p>
            <a:pPr indent="0" marL="0">
              <a:buNone/>
            </a:pPr>
            <a:r>
              <a:rPr lang="en-US" sz="1000" b="1" spc="120" kern="0" dirty="0">
                <a:solidFill>
                  <a:schemeClr val="tx1"/>
                </a:solidFill>
                <a:latin typeface="Lexend" pitchFamily="34" charset="0"/>
                <a:ea typeface="Lexend" pitchFamily="34" charset="-122"/>
                <a:cs typeface="Lexend" pitchFamily="34" charset="-120"/>
              </a:rPr>
              <a:t>ASK SIMPLY</a:t>
            </a:r>
            <a:endParaRPr lang="en-US" sz="1000" dirty="0"/>
          </a:p>
        </p:txBody>
      </p:sp>
      <p:sp>
        <p:nvSpPr>
          <p:cNvPr id="16" name="Text 13"/>
          <p:cNvSpPr txBox="1"/>
          <p:nvPr/>
        </p:nvSpPr>
        <p:spPr>
          <a:xfrm>
            <a:off x="960120" y="5138928"/>
            <a:ext cx="2834640" cy="457200"/>
          </a:xfrm>
          <a:prstGeom prst="rect">
            <a:avLst/>
          </a:prstGeom>
          <a:noFill/>
          <a:ln/>
        </p:spPr>
        <p:txBody>
          <a:bodyPr wrap="square" lIns="0" tIns="0" rIns="0" bIns="0" rtlCol="0" anchor="t"/>
          <a:lstStyle/>
          <a:p>
            <a:pPr indent="0" marL="0">
              <a:buNone/>
            </a:pPr>
            <a:r>
              <a:rPr lang="en-US" sz="1400" i="1" dirty="0">
                <a:solidFill>
                  <a:schemeClr val="tx1"/>
                </a:solidFill>
                <a:latin typeface="+mj-lt" pitchFamily="34" charset="0"/>
                <a:ea typeface="+mj-lt" pitchFamily="34" charset="-122"/>
                <a:cs typeface="+mj-lt" pitchFamily="34" charset="-120"/>
              </a:rPr>
              <a:t>“What can help?”</a:t>
            </a:r>
            <a:endParaRPr lang="en-US" sz="1400" dirty="0"/>
          </a:p>
        </p:txBody>
      </p:sp>
      <p:sp>
        <p:nvSpPr>
          <p:cNvPr id="17" name="Headlines card"/>
          <p:cNvSpPr/>
          <p:nvPr/>
        </p:nvSpPr>
        <p:spPr>
          <a:xfrm>
            <a:off x="4335628" y="1920240"/>
            <a:ext cx="3520440" cy="3794760"/>
          </a:xfrm>
          <a:prstGeom prst="roundRect">
            <a:avLst>
              <a:gd name="adj" fmla="val 5714"/>
            </a:avLst>
          </a:prstGeom>
          <a:solidFill>
            <a:schemeClr val="bg2"/>
          </a:solidFill>
          <a:ln/>
        </p:spPr>
      </p:sp>
      <p:sp>
        <p:nvSpPr>
          <p:cNvPr id="18" name="Text 15"/>
          <p:cNvSpPr txBox="1"/>
          <p:nvPr/>
        </p:nvSpPr>
        <p:spPr>
          <a:xfrm>
            <a:off x="4564228" y="2121408"/>
            <a:ext cx="3017520" cy="36576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Headlines</a:t>
            </a:r>
            <a:endParaRPr lang="en-US" sz="2400" dirty="0"/>
          </a:p>
        </p:txBody>
      </p:sp>
      <p:sp>
        <p:nvSpPr>
          <p:cNvPr id="19" name="Text 16"/>
          <p:cNvSpPr txBox="1"/>
          <p:nvPr/>
        </p:nvSpPr>
        <p:spPr>
          <a:xfrm>
            <a:off x="4564228" y="2560320"/>
            <a:ext cx="3108960" cy="274320"/>
          </a:xfrm>
          <a:prstGeom prst="rect">
            <a:avLst/>
          </a:prstGeom>
          <a:noFill/>
          <a:ln/>
        </p:spPr>
        <p:txBody>
          <a:bodyPr wrap="square" lIns="0" tIns="0" rIns="0" bIns="0" rtlCol="0" anchor="t"/>
          <a:lstStyle/>
          <a:p>
            <a:pPr indent="0" marL="0">
              <a:buNone/>
            </a:pPr>
            <a:r>
              <a:rPr lang="en-US" sz="1500" dirty="0">
                <a:solidFill>
                  <a:schemeClr val="tx1"/>
                </a:solidFill>
              </a:rPr>
              <a:t>Two lines: setup, then payoff.</a:t>
            </a:r>
            <a:endParaRPr lang="en-US" sz="1500" dirty="0"/>
          </a:p>
        </p:txBody>
      </p:sp>
      <p:sp>
        <p:nvSpPr>
          <p:cNvPr id="20" name="Headline example"/>
          <p:cNvSpPr/>
          <p:nvPr/>
        </p:nvSpPr>
        <p:spPr>
          <a:xfrm>
            <a:off x="4564228" y="2971800"/>
            <a:ext cx="3063240" cy="1463040"/>
          </a:xfrm>
          <a:prstGeom prst="roundRect">
            <a:avLst>
              <a:gd name="adj" fmla="val 10000"/>
            </a:avLst>
          </a:prstGeom>
          <a:solidFill>
            <a:schemeClr val="bg1"/>
          </a:solidFill>
          <a:ln/>
        </p:spPr>
      </p:sp>
      <p:pic>
        <p:nvPicPr>
          <p:cNvPr id="21" name="Image 1" descr="Spark">    </p:cNvPr>
          <p:cNvPicPr>
            <a:picLocks noChangeAspect="1"/>
          </p:cNvPicPr>
          <p:nvPr/>
        </p:nvPicPr>
        <p:blipFill>
          <a:blip r:embed="rId2"/>
          <a:stretch>
            <a:fillRect/>
          </a:stretch>
        </p:blipFill>
        <p:spPr>
          <a:xfrm>
            <a:off x="4637380" y="3044952"/>
            <a:ext cx="237744" cy="256032"/>
          </a:xfrm>
          <a:prstGeom prst="rect">
            <a:avLst/>
          </a:prstGeom>
        </p:spPr>
      </p:pic>
      <p:sp>
        <p:nvSpPr>
          <p:cNvPr id="22" name="Text 18"/>
          <p:cNvSpPr txBox="1"/>
          <p:nvPr/>
        </p:nvSpPr>
        <p:spPr>
          <a:xfrm>
            <a:off x="4838548" y="3291840"/>
            <a:ext cx="2743200" cy="1005840"/>
          </a:xfrm>
          <a:prstGeom prst="rect">
            <a:avLst/>
          </a:prstGeom>
          <a:noFill/>
          <a:ln/>
        </p:spPr>
        <p:txBody>
          <a:bodyPr wrap="square" lIns="0" tIns="0" rIns="0" bIns="0" rtlCol="0" anchor="t"/>
          <a:lstStyle/>
          <a:p>
            <a:pPr indent="0" marL="0">
              <a:lnSpc>
                <a:spcPct val="95000"/>
              </a:lnSpc>
              <a:buNone/>
            </a:pPr>
            <a:r>
              <a:rPr lang="en-US" sz="2000" b="1" dirty="0">
                <a:solidFill>
                  <a:schemeClr val="tx1"/>
                </a:solidFill>
                <a:latin typeface="+mj-lt" pitchFamily="34" charset="0"/>
                <a:ea typeface="+mj-lt" pitchFamily="34" charset="-122"/>
                <a:cs typeface="+mj-lt" pitchFamily="34" charset="-120"/>
              </a:rPr>
              <a:t>Understanding Comes</a:t>
            </a:r>
            <a:endParaRPr lang="en-US" sz="1600" dirty="0"/>
          </a:p>
          <a:p>
            <a:pPr indent="0" marL="0">
              <a:lnSpc>
                <a:spcPct val="95000"/>
              </a:lnSpc>
              <a:buNone/>
            </a:pPr>
            <a:r>
              <a:rPr lang="en-US" sz="2600" b="1" dirty="0">
                <a:solidFill>
                  <a:schemeClr val="accent1"/>
                </a:solidFill>
                <a:latin typeface="+mj-lt" pitchFamily="34" charset="0"/>
                <a:ea typeface="+mj-lt" pitchFamily="34" charset="-122"/>
                <a:cs typeface="+mj-lt" pitchFamily="34" charset="-120"/>
              </a:rPr>
              <a:t>Before Labelling.</a:t>
            </a:r>
            <a:endParaRPr lang="en-US" sz="1600" dirty="0"/>
          </a:p>
        </p:txBody>
      </p:sp>
      <p:sp>
        <p:nvSpPr>
          <p:cNvPr id="23" name="Rule 1 circle"/>
          <p:cNvSpPr/>
          <p:nvPr/>
        </p:nvSpPr>
        <p:spPr>
          <a:xfrm>
            <a:off x="4564228" y="4663440"/>
            <a:ext cx="274320" cy="274320"/>
          </a:xfrm>
          <a:prstGeom prst="ellipse">
            <a:avLst/>
          </a:prstGeom>
          <a:solidFill>
            <a:schemeClr val="accent1"/>
          </a:solidFill>
          <a:ln/>
        </p:spPr>
      </p:sp>
      <p:pic>
        <p:nvPicPr>
          <p:cNvPr id="24" name="Image 2" descr="Rule 1">    </p:cNvPr>
          <p:cNvPicPr>
            <a:picLocks noChangeAspect="1"/>
          </p:cNvPicPr>
          <p:nvPr/>
        </p:nvPicPr>
        <p:blipFill>
          <a:blip r:embed="rId3"/>
          <a:stretch>
            <a:fillRect/>
          </a:stretch>
        </p:blipFill>
        <p:spPr>
          <a:xfrm>
            <a:off x="4619092" y="4718304"/>
            <a:ext cx="164592" cy="164592"/>
          </a:xfrm>
          <a:prstGeom prst="rect">
            <a:avLst/>
          </a:prstGeom>
        </p:spPr>
      </p:pic>
      <p:sp>
        <p:nvSpPr>
          <p:cNvPr id="25" name="Text 20"/>
          <p:cNvSpPr txBox="1"/>
          <p:nvPr/>
        </p:nvSpPr>
        <p:spPr>
          <a:xfrm>
            <a:off x="4975708" y="4681728"/>
            <a:ext cx="2697480" cy="256032"/>
          </a:xfrm>
          <a:prstGeom prst="rect">
            <a:avLst/>
          </a:prstGeom>
          <a:noFill/>
          <a:ln/>
        </p:spPr>
        <p:txBody>
          <a:bodyPr wrap="square" lIns="0" tIns="0" rIns="0" bIns="0" rtlCol="0" anchor="t"/>
          <a:lstStyle/>
          <a:p>
            <a:pPr indent="0" marL="0">
              <a:buNone/>
            </a:pPr>
            <a:r>
              <a:rPr lang="en-US" sz="1450" dirty="0">
                <a:solidFill>
                  <a:schemeClr val="tx1"/>
                </a:solidFill>
              </a:rPr>
              <a:t>Charcoal setup, orange payoff</a:t>
            </a:r>
            <a:endParaRPr lang="en-US" sz="1450" dirty="0"/>
          </a:p>
        </p:txBody>
      </p:sp>
      <p:sp>
        <p:nvSpPr>
          <p:cNvPr id="26" name="Rule 2 circle"/>
          <p:cNvSpPr/>
          <p:nvPr/>
        </p:nvSpPr>
        <p:spPr>
          <a:xfrm>
            <a:off x="4564228" y="5001768"/>
            <a:ext cx="274320" cy="274320"/>
          </a:xfrm>
          <a:prstGeom prst="ellipse">
            <a:avLst/>
          </a:prstGeom>
          <a:solidFill>
            <a:schemeClr val="accent1"/>
          </a:solidFill>
          <a:ln/>
        </p:spPr>
      </p:sp>
      <p:pic>
        <p:nvPicPr>
          <p:cNvPr id="27" name="Image 3" descr="Rule 2">    </p:cNvPr>
          <p:cNvPicPr>
            <a:picLocks noChangeAspect="1"/>
          </p:cNvPicPr>
          <p:nvPr/>
        </p:nvPicPr>
        <p:blipFill>
          <a:blip r:embed="rId4"/>
          <a:stretch>
            <a:fillRect/>
          </a:stretch>
        </p:blipFill>
        <p:spPr>
          <a:xfrm>
            <a:off x="4619092" y="5056632"/>
            <a:ext cx="164592" cy="164592"/>
          </a:xfrm>
          <a:prstGeom prst="rect">
            <a:avLst/>
          </a:prstGeom>
        </p:spPr>
      </p:pic>
      <p:sp>
        <p:nvSpPr>
          <p:cNvPr id="28" name="Text 22"/>
          <p:cNvSpPr txBox="1"/>
          <p:nvPr/>
        </p:nvSpPr>
        <p:spPr>
          <a:xfrm>
            <a:off x="4975708" y="5020056"/>
            <a:ext cx="2697480" cy="256032"/>
          </a:xfrm>
          <a:prstGeom prst="rect">
            <a:avLst/>
          </a:prstGeom>
          <a:noFill/>
          <a:ln/>
        </p:spPr>
        <p:txBody>
          <a:bodyPr wrap="square" lIns="0" tIns="0" rIns="0" bIns="0" rtlCol="0" anchor="t"/>
          <a:lstStyle/>
          <a:p>
            <a:pPr indent="0" marL="0">
              <a:buNone/>
            </a:pPr>
            <a:r>
              <a:rPr lang="en-US" sz="1450" dirty="0">
                <a:solidFill>
                  <a:schemeClr val="tx1"/>
                </a:solidFill>
              </a:rPr>
              <a:t>2–5 words a line</a:t>
            </a:r>
            <a:endParaRPr lang="en-US" sz="1450" dirty="0"/>
          </a:p>
        </p:txBody>
      </p:sp>
      <p:sp>
        <p:nvSpPr>
          <p:cNvPr id="29" name="Rule 3 circle"/>
          <p:cNvSpPr/>
          <p:nvPr/>
        </p:nvSpPr>
        <p:spPr>
          <a:xfrm>
            <a:off x="4564228" y="5340096"/>
            <a:ext cx="274320" cy="274320"/>
          </a:xfrm>
          <a:prstGeom prst="ellipse">
            <a:avLst/>
          </a:prstGeom>
          <a:solidFill>
            <a:schemeClr val="accent1"/>
          </a:solidFill>
          <a:ln/>
        </p:spPr>
      </p:sp>
      <p:pic>
        <p:nvPicPr>
          <p:cNvPr id="30" name="Image 4" descr="Rule 3">    </p:cNvPr>
          <p:cNvPicPr>
            <a:picLocks noChangeAspect="1"/>
          </p:cNvPicPr>
          <p:nvPr/>
        </p:nvPicPr>
        <p:blipFill>
          <a:blip r:embed="rId5"/>
          <a:stretch>
            <a:fillRect/>
          </a:stretch>
        </p:blipFill>
        <p:spPr>
          <a:xfrm>
            <a:off x="4619092" y="5394960"/>
            <a:ext cx="164592" cy="164592"/>
          </a:xfrm>
          <a:prstGeom prst="rect">
            <a:avLst/>
          </a:prstGeom>
        </p:spPr>
      </p:pic>
      <p:sp>
        <p:nvSpPr>
          <p:cNvPr id="31" name="Text 24"/>
          <p:cNvSpPr txBox="1"/>
          <p:nvPr/>
        </p:nvSpPr>
        <p:spPr>
          <a:xfrm>
            <a:off x="4975708" y="5358384"/>
            <a:ext cx="2697480" cy="256032"/>
          </a:xfrm>
          <a:prstGeom prst="rect">
            <a:avLst/>
          </a:prstGeom>
          <a:noFill/>
          <a:ln/>
        </p:spPr>
        <p:txBody>
          <a:bodyPr wrap="square" lIns="0" tIns="0" rIns="0" bIns="0" rtlCol="0" anchor="t"/>
          <a:lstStyle/>
          <a:p>
            <a:pPr indent="0" marL="0">
              <a:buNone/>
            </a:pPr>
            <a:r>
              <a:rPr lang="en-US" sz="1450" dirty="0">
                <a:solidFill>
                  <a:schemeClr val="tx1"/>
                </a:solidFill>
              </a:rPr>
              <a:t>Playfair Display Bold</a:t>
            </a:r>
            <a:endParaRPr lang="en-US" sz="1450" dirty="0"/>
          </a:p>
        </p:txBody>
      </p:sp>
      <p:sp>
        <p:nvSpPr>
          <p:cNvPr id="32" name="Captions card"/>
          <p:cNvSpPr/>
          <p:nvPr/>
        </p:nvSpPr>
        <p:spPr>
          <a:xfrm>
            <a:off x="8122615" y="1920240"/>
            <a:ext cx="3520440" cy="3794760"/>
          </a:xfrm>
          <a:prstGeom prst="roundRect">
            <a:avLst>
              <a:gd name="adj" fmla="val 5714"/>
            </a:avLst>
          </a:prstGeom>
          <a:solidFill>
            <a:schemeClr val="bg2"/>
          </a:solidFill>
          <a:ln/>
        </p:spPr>
      </p:sp>
      <p:sp>
        <p:nvSpPr>
          <p:cNvPr id="33" name="Text 26"/>
          <p:cNvSpPr txBox="1"/>
          <p:nvPr/>
        </p:nvSpPr>
        <p:spPr>
          <a:xfrm>
            <a:off x="8351215" y="2121408"/>
            <a:ext cx="3017520" cy="36576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Captions</a:t>
            </a:r>
            <a:endParaRPr lang="en-US" sz="2400" dirty="0"/>
          </a:p>
        </p:txBody>
      </p:sp>
      <p:sp>
        <p:nvSpPr>
          <p:cNvPr id="34" name="Text 27"/>
          <p:cNvSpPr txBox="1"/>
          <p:nvPr/>
        </p:nvSpPr>
        <p:spPr>
          <a:xfrm>
            <a:off x="8351215" y="2560320"/>
            <a:ext cx="3108960" cy="274320"/>
          </a:xfrm>
          <a:prstGeom prst="rect">
            <a:avLst/>
          </a:prstGeom>
          <a:noFill/>
          <a:ln/>
        </p:spPr>
        <p:txBody>
          <a:bodyPr wrap="square" lIns="0" tIns="0" rIns="0" bIns="0" rtlCol="0" anchor="t"/>
          <a:lstStyle/>
          <a:p>
            <a:pPr indent="0" marL="0">
              <a:buNone/>
            </a:pPr>
            <a:r>
              <a:rPr lang="en-US" sz="1500" dirty="0">
                <a:solidFill>
                  <a:schemeClr val="tx1"/>
                </a:solidFill>
              </a:rPr>
              <a:t>Short, kind, one next step.</a:t>
            </a:r>
            <a:endParaRPr lang="en-US" sz="1500" dirty="0"/>
          </a:p>
        </p:txBody>
      </p:sp>
      <p:sp>
        <p:nvSpPr>
          <p:cNvPr id="35" name="Number 1"/>
          <p:cNvSpPr/>
          <p:nvPr/>
        </p:nvSpPr>
        <p:spPr>
          <a:xfrm>
            <a:off x="8351215" y="299008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1</a:t>
            </a:r>
            <a:endParaRPr lang="en-US" sz="1200" dirty="0"/>
          </a:p>
        </p:txBody>
      </p:sp>
      <p:sp>
        <p:nvSpPr>
          <p:cNvPr id="36" name="Text 29"/>
          <p:cNvSpPr txBox="1"/>
          <p:nvPr/>
        </p:nvSpPr>
        <p:spPr>
          <a:xfrm>
            <a:off x="8854135" y="2971800"/>
            <a:ext cx="2560320" cy="237744"/>
          </a:xfrm>
          <a:prstGeom prst="rect">
            <a:avLst/>
          </a:prstGeom>
          <a:noFill/>
          <a:ln/>
        </p:spPr>
        <p:txBody>
          <a:bodyPr wrap="square" lIns="0" tIns="0" rIns="0" bIns="0" rtlCol="0" anchor="t"/>
          <a:lstStyle/>
          <a:p>
            <a:pPr indent="0" marL="0">
              <a:buNone/>
            </a:pPr>
            <a:r>
              <a:rPr lang="en-US" sz="1600" b="1" dirty="0">
                <a:solidFill>
                  <a:schemeClr val="tx1"/>
                </a:solidFill>
              </a:rPr>
              <a:t>Hook</a:t>
            </a:r>
            <a:endParaRPr lang="en-US" sz="1600" dirty="0"/>
          </a:p>
        </p:txBody>
      </p:sp>
      <p:sp>
        <p:nvSpPr>
          <p:cNvPr id="37" name="Text 30"/>
          <p:cNvSpPr txBox="1"/>
          <p:nvPr/>
        </p:nvSpPr>
        <p:spPr>
          <a:xfrm>
            <a:off x="8854135" y="3218688"/>
            <a:ext cx="2606040" cy="420624"/>
          </a:xfrm>
          <a:prstGeom prst="rect">
            <a:avLst/>
          </a:prstGeom>
          <a:noFill/>
          <a:ln/>
        </p:spPr>
        <p:txBody>
          <a:bodyPr wrap="square" lIns="0" tIns="0" rIns="0" bIns="0" rtlCol="0" anchor="t"/>
          <a:lstStyle/>
          <a:p>
            <a:pPr indent="0" marL="0">
              <a:buNone/>
            </a:pPr>
            <a:r>
              <a:rPr lang="en-US" sz="1400" dirty="0">
                <a:solidFill>
                  <a:schemeClr val="tx1"/>
                </a:solidFill>
              </a:rPr>
              <a:t>One line that names the myth or feeling.</a:t>
            </a:r>
            <a:endParaRPr lang="en-US" sz="1400" dirty="0"/>
          </a:p>
        </p:txBody>
      </p:sp>
      <p:sp>
        <p:nvSpPr>
          <p:cNvPr id="38" name="Number 2"/>
          <p:cNvSpPr/>
          <p:nvPr/>
        </p:nvSpPr>
        <p:spPr>
          <a:xfrm>
            <a:off x="8351215" y="3685032"/>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2</a:t>
            </a:r>
            <a:endParaRPr lang="en-US" sz="1200" dirty="0"/>
          </a:p>
        </p:txBody>
      </p:sp>
      <p:sp>
        <p:nvSpPr>
          <p:cNvPr id="39" name="Text 32"/>
          <p:cNvSpPr txBox="1"/>
          <p:nvPr/>
        </p:nvSpPr>
        <p:spPr>
          <a:xfrm>
            <a:off x="8854135" y="3666744"/>
            <a:ext cx="2560320" cy="237744"/>
          </a:xfrm>
          <a:prstGeom prst="rect">
            <a:avLst/>
          </a:prstGeom>
          <a:noFill/>
          <a:ln/>
        </p:spPr>
        <p:txBody>
          <a:bodyPr wrap="square" lIns="0" tIns="0" rIns="0" bIns="0" rtlCol="0" anchor="t"/>
          <a:lstStyle/>
          <a:p>
            <a:pPr indent="0" marL="0">
              <a:buNone/>
            </a:pPr>
            <a:r>
              <a:rPr lang="en-US" sz="1600" b="1" dirty="0">
                <a:solidFill>
                  <a:schemeClr val="tx1"/>
                </a:solidFill>
              </a:rPr>
              <a:t>Explain</a:t>
            </a:r>
            <a:endParaRPr lang="en-US" sz="1600" dirty="0"/>
          </a:p>
        </p:txBody>
      </p:sp>
      <p:sp>
        <p:nvSpPr>
          <p:cNvPr id="40" name="Text 33"/>
          <p:cNvSpPr txBox="1"/>
          <p:nvPr/>
        </p:nvSpPr>
        <p:spPr>
          <a:xfrm>
            <a:off x="8854135" y="3913632"/>
            <a:ext cx="2606040" cy="420624"/>
          </a:xfrm>
          <a:prstGeom prst="rect">
            <a:avLst/>
          </a:prstGeom>
          <a:noFill/>
          <a:ln/>
        </p:spPr>
        <p:txBody>
          <a:bodyPr wrap="square" lIns="0" tIns="0" rIns="0" bIns="0" rtlCol="0" anchor="t"/>
          <a:lstStyle/>
          <a:p>
            <a:pPr indent="0" marL="0">
              <a:buNone/>
            </a:pPr>
            <a:r>
              <a:rPr lang="en-US" sz="1400" dirty="0">
                <a:solidFill>
                  <a:schemeClr val="tx1"/>
                </a:solidFill>
              </a:rPr>
              <a:t>Two or three short lines, plain words.</a:t>
            </a:r>
            <a:endParaRPr lang="en-US" sz="1400" dirty="0"/>
          </a:p>
        </p:txBody>
      </p:sp>
      <p:sp>
        <p:nvSpPr>
          <p:cNvPr id="41" name="Number 3"/>
          <p:cNvSpPr/>
          <p:nvPr/>
        </p:nvSpPr>
        <p:spPr>
          <a:xfrm>
            <a:off x="8351215" y="4379976"/>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3</a:t>
            </a:r>
            <a:endParaRPr lang="en-US" sz="1200" dirty="0"/>
          </a:p>
        </p:txBody>
      </p:sp>
      <p:sp>
        <p:nvSpPr>
          <p:cNvPr id="42" name="Text 35"/>
          <p:cNvSpPr txBox="1"/>
          <p:nvPr/>
        </p:nvSpPr>
        <p:spPr>
          <a:xfrm>
            <a:off x="8854135" y="4361688"/>
            <a:ext cx="2560320" cy="237744"/>
          </a:xfrm>
          <a:prstGeom prst="rect">
            <a:avLst/>
          </a:prstGeom>
          <a:noFill/>
          <a:ln/>
        </p:spPr>
        <p:txBody>
          <a:bodyPr wrap="square" lIns="0" tIns="0" rIns="0" bIns="0" rtlCol="0" anchor="t"/>
          <a:lstStyle/>
          <a:p>
            <a:pPr indent="0" marL="0">
              <a:buNone/>
            </a:pPr>
            <a:r>
              <a:rPr lang="en-US" sz="1600" b="1" dirty="0">
                <a:solidFill>
                  <a:schemeClr val="tx1"/>
                </a:solidFill>
              </a:rPr>
              <a:t>Reassure</a:t>
            </a:r>
            <a:endParaRPr lang="en-US" sz="1600" dirty="0"/>
          </a:p>
        </p:txBody>
      </p:sp>
      <p:sp>
        <p:nvSpPr>
          <p:cNvPr id="43" name="Text 36"/>
          <p:cNvSpPr txBox="1"/>
          <p:nvPr/>
        </p:nvSpPr>
        <p:spPr>
          <a:xfrm>
            <a:off x="8854135" y="4608576"/>
            <a:ext cx="2606040" cy="420624"/>
          </a:xfrm>
          <a:prstGeom prst="rect">
            <a:avLst/>
          </a:prstGeom>
          <a:noFill/>
          <a:ln/>
        </p:spPr>
        <p:txBody>
          <a:bodyPr wrap="square" lIns="0" tIns="0" rIns="0" bIns="0" rtlCol="0" anchor="t"/>
          <a:lstStyle/>
          <a:p>
            <a:pPr indent="0" marL="0">
              <a:buNone/>
            </a:pPr>
            <a:r>
              <a:rPr lang="en-US" sz="1400" dirty="0">
                <a:solidFill>
                  <a:schemeClr val="tx1"/>
                </a:solidFill>
              </a:rPr>
              <a:t>End with hope: “Every child deserves to be understood.”</a:t>
            </a:r>
            <a:endParaRPr lang="en-US" sz="1400" dirty="0"/>
          </a:p>
        </p:txBody>
      </p:sp>
      <p:sp>
        <p:nvSpPr>
          <p:cNvPr id="44" name="Number 4"/>
          <p:cNvSpPr/>
          <p:nvPr/>
        </p:nvSpPr>
        <p:spPr>
          <a:xfrm>
            <a:off x="8351215" y="5074920"/>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4</a:t>
            </a:r>
            <a:endParaRPr lang="en-US" sz="1200" dirty="0"/>
          </a:p>
        </p:txBody>
      </p:sp>
      <p:sp>
        <p:nvSpPr>
          <p:cNvPr id="45" name="Text 38"/>
          <p:cNvSpPr txBox="1"/>
          <p:nvPr/>
        </p:nvSpPr>
        <p:spPr>
          <a:xfrm>
            <a:off x="8854135" y="5056632"/>
            <a:ext cx="2560320" cy="237744"/>
          </a:xfrm>
          <a:prstGeom prst="rect">
            <a:avLst/>
          </a:prstGeom>
          <a:noFill/>
          <a:ln/>
        </p:spPr>
        <p:txBody>
          <a:bodyPr wrap="square" lIns="0" tIns="0" rIns="0" bIns="0" rtlCol="0" anchor="t"/>
          <a:lstStyle/>
          <a:p>
            <a:pPr indent="0" marL="0">
              <a:buNone/>
            </a:pPr>
            <a:r>
              <a:rPr lang="en-US" sz="1600" b="1" dirty="0">
                <a:solidFill>
                  <a:schemeClr val="tx1"/>
                </a:solidFill>
              </a:rPr>
              <a:t>Next step</a:t>
            </a:r>
            <a:endParaRPr lang="en-US" sz="1600" dirty="0"/>
          </a:p>
        </p:txBody>
      </p:sp>
      <p:sp>
        <p:nvSpPr>
          <p:cNvPr id="46" name="Text 39"/>
          <p:cNvSpPr txBox="1"/>
          <p:nvPr/>
        </p:nvSpPr>
        <p:spPr>
          <a:xfrm>
            <a:off x="8854135" y="5303520"/>
            <a:ext cx="2606040" cy="420624"/>
          </a:xfrm>
          <a:prstGeom prst="rect">
            <a:avLst/>
          </a:prstGeom>
          <a:noFill/>
          <a:ln/>
        </p:spPr>
        <p:txBody>
          <a:bodyPr wrap="square" lIns="0" tIns="0" rIns="0" bIns="0" rtlCol="0" anchor="t"/>
          <a:lstStyle/>
          <a:p>
            <a:pPr indent="0" marL="0">
              <a:buNone/>
            </a:pPr>
            <a:r>
              <a:rPr lang="en-US" sz="1400" dirty="0">
                <a:solidFill>
                  <a:schemeClr val="tx1"/>
                </a:solidFill>
              </a:rPr>
              <a:t>One action, e.g. thecub.co.in.</a:t>
            </a:r>
            <a:endParaRPr lang="en-US" sz="14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ag"/>
          <p:cNvSpPr/>
          <p:nvPr/>
        </p:nvSpPr>
        <p:spPr>
          <a:xfrm>
            <a:off x="8982151" y="502920"/>
            <a:ext cx="2660904" cy="329184"/>
          </a:xfrm>
          <a:prstGeom prst="roundRect">
            <a:avLst>
              <a:gd name="adj" fmla="val 50000"/>
            </a:avLst>
          </a:prstGeom>
          <a:solidFill>
            <a:schemeClr val="bg1"/>
          </a:solidFill>
          <a:ln/>
        </p:spPr>
        <p:txBody>
          <a:bodyPr wrap="square" lIns="0" tIns="0" rIns="0" bIns="0" rtlCol="0" anchor="ctr"/>
          <a:lstStyle/>
          <a:p>
            <a:pPr algn="ctr" indent="0" marL="0">
              <a:buNone/>
            </a:pPr>
            <a:r>
              <a:rPr lang="en-US" sz="1100" b="1" spc="120" kern="0" dirty="0">
                <a:solidFill>
                  <a:schemeClr val="tx1"/>
                </a:solidFill>
                <a:latin typeface="Lexend" pitchFamily="34" charset="0"/>
                <a:ea typeface="Lexend" pitchFamily="34" charset="-122"/>
                <a:cs typeface="Lexend" pitchFamily="34" charset="-120"/>
              </a:rPr>
              <a:t>LANGUAGE &amp; SENTENCES</a:t>
            </a:r>
            <a:endParaRPr lang="en-US" sz="1100" dirty="0"/>
          </a:p>
        </p:txBody>
      </p:sp>
      <p:sp>
        <p:nvSpPr>
          <p:cNvPr id="3" name="Text 2"/>
          <p:cNvSpPr/>
          <p:nvPr>
            <p:ph idx="105" type="title" hasCustomPrompt="1"/>
          </p:nvPr>
        </p:nvSpPr>
        <p:spPr>
          <a:xfrm>
            <a:off x="566928" y="457200"/>
            <a:ext cx="7955280" cy="128016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rPr>
              <a:t>Short sentences.</a:t>
            </a:r>
            <a:endParaRPr lang="en-US" sz="3600" dirty="0"/>
          </a:p>
          <a:p>
            <a:pPr algn="l" indent="0" marL="0">
              <a:lnSpc>
                <a:spcPct val="95000"/>
              </a:lnSpc>
              <a:buNone/>
            </a:pPr>
            <a:r>
              <a:rPr lang="en-US" sz="3600" b="1" dirty="0">
                <a:solidFill>
                  <a:schemeClr val="tx1"/>
                </a:solidFill>
              </a:rPr>
              <a:t>Soft, simple words.</a:t>
            </a:r>
            <a:endParaRPr lang="en-US" sz="3600" dirty="0"/>
          </a:p>
        </p:txBody>
      </p:sp>
      <p:sp>
        <p:nvSpPr>
          <p:cNvPr id="4" name="Sentence rules card"/>
          <p:cNvSpPr/>
          <p:nvPr/>
        </p:nvSpPr>
        <p:spPr>
          <a:xfrm>
            <a:off x="548640" y="1874520"/>
            <a:ext cx="5989320" cy="3429000"/>
          </a:xfrm>
          <a:prstGeom prst="roundRect">
            <a:avLst>
              <a:gd name="adj" fmla="val 5867"/>
            </a:avLst>
          </a:prstGeom>
          <a:solidFill>
            <a:schemeClr val="bg1"/>
          </a:solidFill>
          <a:ln/>
        </p:spPr>
      </p:sp>
      <p:sp>
        <p:nvSpPr>
          <p:cNvPr id="5" name="Text 3"/>
          <p:cNvSpPr txBox="1"/>
          <p:nvPr/>
        </p:nvSpPr>
        <p:spPr>
          <a:xfrm>
            <a:off x="822960" y="2075688"/>
            <a:ext cx="539496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How our sentences sound</a:t>
            </a:r>
            <a:endParaRPr lang="en-US" sz="2200" dirty="0"/>
          </a:p>
        </p:txBody>
      </p:sp>
      <p:sp>
        <p:nvSpPr>
          <p:cNvPr id="6" name="Number 1"/>
          <p:cNvSpPr/>
          <p:nvPr/>
        </p:nvSpPr>
        <p:spPr>
          <a:xfrm>
            <a:off x="822960" y="2724912"/>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1</a:t>
            </a:r>
            <a:endParaRPr lang="en-US" sz="1200" dirty="0"/>
          </a:p>
        </p:txBody>
      </p:sp>
      <p:sp>
        <p:nvSpPr>
          <p:cNvPr id="7" name="Text 5"/>
          <p:cNvSpPr txBox="1"/>
          <p:nvPr/>
        </p:nvSpPr>
        <p:spPr>
          <a:xfrm>
            <a:off x="1371600" y="2670048"/>
            <a:ext cx="4937760" cy="256032"/>
          </a:xfrm>
          <a:prstGeom prst="rect">
            <a:avLst/>
          </a:prstGeom>
          <a:noFill/>
          <a:ln/>
        </p:spPr>
        <p:txBody>
          <a:bodyPr wrap="square" lIns="0" tIns="0" rIns="0" bIns="0" rtlCol="0" anchor="t"/>
          <a:lstStyle/>
          <a:p>
            <a:pPr indent="0" marL="0">
              <a:buNone/>
            </a:pPr>
            <a:r>
              <a:rPr lang="en-US" sz="1650" b="1" dirty="0">
                <a:solidFill>
                  <a:schemeClr val="tx1"/>
                </a:solidFill>
              </a:rPr>
              <a:t>Short and plain</a:t>
            </a:r>
            <a:endParaRPr lang="en-US" sz="1650" dirty="0"/>
          </a:p>
        </p:txBody>
      </p:sp>
      <p:sp>
        <p:nvSpPr>
          <p:cNvPr id="8" name="Text 6"/>
          <p:cNvSpPr txBox="1"/>
          <p:nvPr/>
        </p:nvSpPr>
        <p:spPr>
          <a:xfrm>
            <a:off x="1371600" y="2935224"/>
            <a:ext cx="4937760" cy="274320"/>
          </a:xfrm>
          <a:prstGeom prst="rect">
            <a:avLst/>
          </a:prstGeom>
          <a:noFill/>
          <a:ln/>
        </p:spPr>
        <p:txBody>
          <a:bodyPr wrap="square" lIns="0" tIns="0" rIns="0" bIns="0" rtlCol="0" anchor="t"/>
          <a:lstStyle/>
          <a:p>
            <a:pPr indent="0" marL="0">
              <a:buNone/>
            </a:pPr>
            <a:r>
              <a:rPr lang="en-US" sz="1400" i="1" dirty="0">
                <a:solidFill>
                  <a:schemeClr val="tx1"/>
                </a:solidFill>
                <a:latin typeface="+mj-lt" pitchFamily="34" charset="0"/>
                <a:ea typeface="+mj-lt" pitchFamily="34" charset="-122"/>
                <a:cs typeface="+mj-lt" pitchFamily="34" charset="-120"/>
              </a:rPr>
              <a:t>“Give clear, simple instructions.”</a:t>
            </a:r>
            <a:endParaRPr lang="en-US" sz="1400" dirty="0"/>
          </a:p>
        </p:txBody>
      </p:sp>
      <p:sp>
        <p:nvSpPr>
          <p:cNvPr id="9" name="Number 2"/>
          <p:cNvSpPr/>
          <p:nvPr/>
        </p:nvSpPr>
        <p:spPr>
          <a:xfrm>
            <a:off x="822960" y="3364992"/>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2</a:t>
            </a:r>
            <a:endParaRPr lang="en-US" sz="1200" dirty="0"/>
          </a:p>
        </p:txBody>
      </p:sp>
      <p:sp>
        <p:nvSpPr>
          <p:cNvPr id="10" name="Text 8"/>
          <p:cNvSpPr txBox="1"/>
          <p:nvPr/>
        </p:nvSpPr>
        <p:spPr>
          <a:xfrm>
            <a:off x="1371600" y="3310128"/>
            <a:ext cx="4937760" cy="256032"/>
          </a:xfrm>
          <a:prstGeom prst="rect">
            <a:avLst/>
          </a:prstGeom>
          <a:noFill/>
          <a:ln/>
        </p:spPr>
        <p:txBody>
          <a:bodyPr wrap="square" lIns="0" tIns="0" rIns="0" bIns="0" rtlCol="0" anchor="t"/>
          <a:lstStyle/>
          <a:p>
            <a:pPr indent="0" marL="0">
              <a:buNone/>
            </a:pPr>
            <a:r>
              <a:rPr lang="en-US" sz="1650" b="1" dirty="0">
                <a:solidFill>
                  <a:schemeClr val="tx1"/>
                </a:solidFill>
              </a:rPr>
              <a:t>Soft, not absolute (use may and can)</a:t>
            </a:r>
            <a:endParaRPr lang="en-US" sz="1650" dirty="0"/>
          </a:p>
        </p:txBody>
      </p:sp>
      <p:sp>
        <p:nvSpPr>
          <p:cNvPr id="11" name="Text 9"/>
          <p:cNvSpPr txBox="1"/>
          <p:nvPr/>
        </p:nvSpPr>
        <p:spPr>
          <a:xfrm>
            <a:off x="1371600" y="3575304"/>
            <a:ext cx="4937760" cy="274320"/>
          </a:xfrm>
          <a:prstGeom prst="rect">
            <a:avLst/>
          </a:prstGeom>
          <a:noFill/>
          <a:ln/>
        </p:spPr>
        <p:txBody>
          <a:bodyPr wrap="square" lIns="0" tIns="0" rIns="0" bIns="0" rtlCol="0" anchor="t"/>
          <a:lstStyle/>
          <a:p>
            <a:pPr indent="0" marL="0">
              <a:buNone/>
            </a:pPr>
            <a:r>
              <a:rPr lang="en-US" sz="1400" i="1" dirty="0">
                <a:solidFill>
                  <a:schemeClr val="tx1"/>
                </a:solidFill>
                <a:latin typeface="+mj-lt" pitchFamily="34" charset="0"/>
                <a:ea typeface="+mj-lt" pitchFamily="34" charset="-122"/>
                <a:cs typeface="+mj-lt" pitchFamily="34" charset="-120"/>
              </a:rPr>
              <a:t>“…may sometimes reflect difficulties with attention.”</a:t>
            </a:r>
            <a:endParaRPr lang="en-US" sz="1400" dirty="0"/>
          </a:p>
        </p:txBody>
      </p:sp>
      <p:sp>
        <p:nvSpPr>
          <p:cNvPr id="12" name="Number 3"/>
          <p:cNvSpPr/>
          <p:nvPr/>
        </p:nvSpPr>
        <p:spPr>
          <a:xfrm>
            <a:off x="822960" y="4005072"/>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3</a:t>
            </a:r>
            <a:endParaRPr lang="en-US" sz="1200" dirty="0"/>
          </a:p>
        </p:txBody>
      </p:sp>
      <p:sp>
        <p:nvSpPr>
          <p:cNvPr id="13" name="Text 11"/>
          <p:cNvSpPr txBox="1"/>
          <p:nvPr/>
        </p:nvSpPr>
        <p:spPr>
          <a:xfrm>
            <a:off x="1371600" y="3950208"/>
            <a:ext cx="4937760" cy="256032"/>
          </a:xfrm>
          <a:prstGeom prst="rect">
            <a:avLst/>
          </a:prstGeom>
          <a:noFill/>
          <a:ln/>
        </p:spPr>
        <p:txBody>
          <a:bodyPr wrap="square" lIns="0" tIns="0" rIns="0" bIns="0" rtlCol="0" anchor="t"/>
          <a:lstStyle/>
          <a:p>
            <a:pPr indent="0" marL="0">
              <a:buNone/>
            </a:pPr>
            <a:r>
              <a:rPr lang="en-US" sz="1650" b="1" dirty="0">
                <a:solidFill>
                  <a:schemeClr val="tx1"/>
                </a:solidFill>
              </a:rPr>
              <a:t>About needs, not faults</a:t>
            </a:r>
            <a:endParaRPr lang="en-US" sz="1650" dirty="0"/>
          </a:p>
        </p:txBody>
      </p:sp>
      <p:sp>
        <p:nvSpPr>
          <p:cNvPr id="14" name="Text 12"/>
          <p:cNvSpPr txBox="1"/>
          <p:nvPr/>
        </p:nvSpPr>
        <p:spPr>
          <a:xfrm>
            <a:off x="1371600" y="4215384"/>
            <a:ext cx="4937760" cy="274320"/>
          </a:xfrm>
          <a:prstGeom prst="rect">
            <a:avLst/>
          </a:prstGeom>
          <a:noFill/>
          <a:ln/>
        </p:spPr>
        <p:txBody>
          <a:bodyPr wrap="square" lIns="0" tIns="0" rIns="0" bIns="0" rtlCol="0" anchor="t"/>
          <a:lstStyle/>
          <a:p>
            <a:pPr indent="0" marL="0">
              <a:buNone/>
            </a:pPr>
            <a:r>
              <a:rPr lang="en-US" sz="1400" i="1" dirty="0">
                <a:solidFill>
                  <a:schemeClr val="tx1"/>
                </a:solidFill>
                <a:latin typeface="+mj-lt" pitchFamily="34" charset="0"/>
                <a:ea typeface="+mj-lt" pitchFamily="34" charset="-122"/>
                <a:cs typeface="+mj-lt" pitchFamily="34" charset="-120"/>
              </a:rPr>
              <a:t>“What they often need is the right kind of support.”</a:t>
            </a:r>
            <a:endParaRPr lang="en-US" sz="1400" dirty="0"/>
          </a:p>
        </p:txBody>
      </p:sp>
      <p:sp>
        <p:nvSpPr>
          <p:cNvPr id="15" name="Number 4"/>
          <p:cNvSpPr/>
          <p:nvPr/>
        </p:nvSpPr>
        <p:spPr>
          <a:xfrm>
            <a:off x="822960" y="4645152"/>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4</a:t>
            </a:r>
            <a:endParaRPr lang="en-US" sz="1200" dirty="0"/>
          </a:p>
        </p:txBody>
      </p:sp>
      <p:sp>
        <p:nvSpPr>
          <p:cNvPr id="16" name="Text 14"/>
          <p:cNvSpPr txBox="1"/>
          <p:nvPr/>
        </p:nvSpPr>
        <p:spPr>
          <a:xfrm>
            <a:off x="1371600" y="4590288"/>
            <a:ext cx="4937760" cy="256032"/>
          </a:xfrm>
          <a:prstGeom prst="rect">
            <a:avLst/>
          </a:prstGeom>
          <a:noFill/>
          <a:ln/>
        </p:spPr>
        <p:txBody>
          <a:bodyPr wrap="square" lIns="0" tIns="0" rIns="0" bIns="0" rtlCol="0" anchor="t"/>
          <a:lstStyle/>
          <a:p>
            <a:pPr indent="0" marL="0">
              <a:buNone/>
            </a:pPr>
            <a:r>
              <a:rPr lang="en-US" sz="1650" b="1" dirty="0">
                <a:solidFill>
                  <a:schemeClr val="tx1"/>
                </a:solidFill>
              </a:rPr>
              <a:t>Lists of 4–6 short points</a:t>
            </a:r>
            <a:endParaRPr lang="en-US" sz="1650" dirty="0"/>
          </a:p>
        </p:txBody>
      </p:sp>
      <p:sp>
        <p:nvSpPr>
          <p:cNvPr id="17" name="Text 15"/>
          <p:cNvSpPr txBox="1"/>
          <p:nvPr/>
        </p:nvSpPr>
        <p:spPr>
          <a:xfrm>
            <a:off x="1371600" y="4855464"/>
            <a:ext cx="4937760" cy="274320"/>
          </a:xfrm>
          <a:prstGeom prst="rect">
            <a:avLst/>
          </a:prstGeom>
          <a:noFill/>
          <a:ln/>
        </p:spPr>
        <p:txBody>
          <a:bodyPr wrap="square" lIns="0" tIns="0" rIns="0" bIns="0" rtlCol="0" anchor="t"/>
          <a:lstStyle/>
          <a:p>
            <a:pPr indent="0" marL="0">
              <a:buNone/>
            </a:pPr>
            <a:r>
              <a:rPr lang="en-US" sz="1400" i="1" dirty="0">
                <a:solidFill>
                  <a:schemeClr val="tx1"/>
                </a:solidFill>
                <a:latin typeface="+mj-lt" pitchFamily="34" charset="0"/>
                <a:ea typeface="+mj-lt" pitchFamily="34" charset="-122"/>
                <a:cs typeface="+mj-lt" pitchFamily="34" charset="-120"/>
              </a:rPr>
              <a:t>“Attention · Impulse control · Organisation”</a:t>
            </a:r>
            <a:endParaRPr lang="en-US" sz="1400" dirty="0"/>
          </a:p>
        </p:txBody>
      </p:sp>
      <p:sp>
        <p:nvSpPr>
          <p:cNvPr id="18" name="Words we use card"/>
          <p:cNvSpPr/>
          <p:nvPr/>
        </p:nvSpPr>
        <p:spPr>
          <a:xfrm>
            <a:off x="6766560" y="1874520"/>
            <a:ext cx="4873752" cy="1645920"/>
          </a:xfrm>
          <a:prstGeom prst="roundRect">
            <a:avLst>
              <a:gd name="adj" fmla="val 12222"/>
            </a:avLst>
          </a:prstGeom>
          <a:solidFill>
            <a:schemeClr val="bg1"/>
          </a:solidFill>
          <a:ln/>
        </p:spPr>
      </p:sp>
      <p:sp>
        <p:nvSpPr>
          <p:cNvPr id="19" name="Text 17"/>
          <p:cNvSpPr txBox="1"/>
          <p:nvPr/>
        </p:nvSpPr>
        <p:spPr>
          <a:xfrm>
            <a:off x="7040880" y="2057400"/>
            <a:ext cx="429768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Words we use</a:t>
            </a:r>
            <a:endParaRPr lang="en-US" sz="2000" dirty="0"/>
          </a:p>
        </p:txBody>
      </p:sp>
      <p:sp>
        <p:nvSpPr>
          <p:cNvPr id="20" name="Word understand"/>
          <p:cNvSpPr/>
          <p:nvPr/>
        </p:nvSpPr>
        <p:spPr>
          <a:xfrm>
            <a:off x="7040880" y="2560320"/>
            <a:ext cx="11887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400" dirty="0">
                <a:solidFill>
                  <a:schemeClr val="tx1"/>
                </a:solidFill>
              </a:rPr>
              <a:t>understand</a:t>
            </a:r>
            <a:endParaRPr lang="en-US" sz="1400" dirty="0"/>
          </a:p>
        </p:txBody>
      </p:sp>
      <p:sp>
        <p:nvSpPr>
          <p:cNvPr id="21" name="Word support"/>
          <p:cNvSpPr/>
          <p:nvPr/>
        </p:nvSpPr>
        <p:spPr>
          <a:xfrm>
            <a:off x="8366760" y="2560320"/>
            <a:ext cx="9601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400" dirty="0">
                <a:solidFill>
                  <a:schemeClr val="tx1"/>
                </a:solidFill>
              </a:rPr>
              <a:t>support</a:t>
            </a:r>
            <a:endParaRPr lang="en-US" sz="1400" dirty="0"/>
          </a:p>
        </p:txBody>
      </p:sp>
      <p:sp>
        <p:nvSpPr>
          <p:cNvPr id="22" name="Word strengths"/>
          <p:cNvSpPr/>
          <p:nvPr/>
        </p:nvSpPr>
        <p:spPr>
          <a:xfrm>
            <a:off x="9464040" y="2560320"/>
            <a:ext cx="109728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400" dirty="0">
                <a:solidFill>
                  <a:schemeClr val="tx1"/>
                </a:solidFill>
              </a:rPr>
              <a:t>strengths</a:t>
            </a:r>
            <a:endParaRPr lang="en-US" sz="1400" dirty="0"/>
          </a:p>
        </p:txBody>
      </p:sp>
      <p:sp>
        <p:nvSpPr>
          <p:cNvPr id="23" name="Word every child"/>
          <p:cNvSpPr/>
          <p:nvPr/>
        </p:nvSpPr>
        <p:spPr>
          <a:xfrm>
            <a:off x="7040880" y="2990088"/>
            <a:ext cx="128016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400" dirty="0">
                <a:solidFill>
                  <a:schemeClr val="tx1"/>
                </a:solidFill>
              </a:rPr>
              <a:t>every child</a:t>
            </a:r>
            <a:endParaRPr lang="en-US" sz="1400" dirty="0"/>
          </a:p>
        </p:txBody>
      </p:sp>
      <p:sp>
        <p:nvSpPr>
          <p:cNvPr id="24" name="Word “What would help them?”"/>
          <p:cNvSpPr/>
          <p:nvPr/>
        </p:nvSpPr>
        <p:spPr>
          <a:xfrm>
            <a:off x="8458200" y="2990088"/>
            <a:ext cx="269748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400" dirty="0">
                <a:solidFill>
                  <a:schemeClr val="tx1"/>
                </a:solidFill>
              </a:rPr>
              <a:t>“What would help them?”</a:t>
            </a:r>
            <a:endParaRPr lang="en-US" sz="1400" dirty="0"/>
          </a:p>
        </p:txBody>
      </p:sp>
      <p:sp>
        <p:nvSpPr>
          <p:cNvPr id="25" name="Words we quote card"/>
          <p:cNvSpPr/>
          <p:nvPr/>
        </p:nvSpPr>
        <p:spPr>
          <a:xfrm>
            <a:off x="6766560" y="3657600"/>
            <a:ext cx="4873752" cy="1645920"/>
          </a:xfrm>
          <a:prstGeom prst="roundRect">
            <a:avLst>
              <a:gd name="adj" fmla="val 12222"/>
            </a:avLst>
          </a:prstGeom>
          <a:solidFill>
            <a:schemeClr val="tx1"/>
          </a:solidFill>
          <a:ln/>
        </p:spPr>
      </p:sp>
      <p:sp>
        <p:nvSpPr>
          <p:cNvPr id="26" name="Text 24"/>
          <p:cNvSpPr txBox="1"/>
          <p:nvPr/>
        </p:nvSpPr>
        <p:spPr>
          <a:xfrm>
            <a:off x="7040880" y="3840480"/>
            <a:ext cx="4297680" cy="36576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Words we only quote</a:t>
            </a:r>
            <a:endParaRPr lang="en-US" sz="2000" dirty="0"/>
          </a:p>
        </p:txBody>
      </p:sp>
      <p:sp>
        <p:nvSpPr>
          <p:cNvPr id="27" name="Quoted “lazy”"/>
          <p:cNvSpPr/>
          <p:nvPr/>
        </p:nvSpPr>
        <p:spPr>
          <a:xfrm>
            <a:off x="7040880" y="4343400"/>
            <a:ext cx="77724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dirty="0">
                <a:solidFill>
                  <a:schemeClr val="tx1"/>
                </a:solidFill>
              </a:rPr>
              <a:t>“lazy”</a:t>
            </a:r>
            <a:endParaRPr lang="en-US" sz="1400" dirty="0"/>
          </a:p>
        </p:txBody>
      </p:sp>
      <p:sp>
        <p:nvSpPr>
          <p:cNvPr id="28" name="Quoted “careless”"/>
          <p:cNvSpPr/>
          <p:nvPr/>
        </p:nvSpPr>
        <p:spPr>
          <a:xfrm>
            <a:off x="7955280" y="4343400"/>
            <a:ext cx="109728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dirty="0">
                <a:solidFill>
                  <a:schemeClr val="tx1"/>
                </a:solidFill>
              </a:rPr>
              <a:t>“careless”</a:t>
            </a:r>
            <a:endParaRPr lang="en-US" sz="1400" dirty="0"/>
          </a:p>
        </p:txBody>
      </p:sp>
      <p:sp>
        <p:nvSpPr>
          <p:cNvPr id="29" name="Quoted “not trying”"/>
          <p:cNvSpPr/>
          <p:nvPr/>
        </p:nvSpPr>
        <p:spPr>
          <a:xfrm>
            <a:off x="9189720" y="4343400"/>
            <a:ext cx="128016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dirty="0">
                <a:solidFill>
                  <a:schemeClr val="tx1"/>
                </a:solidFill>
              </a:rPr>
              <a:t>“not trying”</a:t>
            </a:r>
            <a:endParaRPr lang="en-US" sz="1400" dirty="0"/>
          </a:p>
        </p:txBody>
      </p:sp>
      <p:sp>
        <p:nvSpPr>
          <p:cNvPr id="30" name="Quoted “hyper”"/>
          <p:cNvSpPr/>
          <p:nvPr/>
        </p:nvSpPr>
        <p:spPr>
          <a:xfrm>
            <a:off x="10607040" y="4343400"/>
            <a:ext cx="86868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dirty="0">
                <a:solidFill>
                  <a:schemeClr val="tx1"/>
                </a:solidFill>
              </a:rPr>
              <a:t>“hyper”</a:t>
            </a:r>
            <a:endParaRPr lang="en-US" sz="1400" dirty="0"/>
          </a:p>
        </p:txBody>
      </p:sp>
      <p:sp>
        <p:nvSpPr>
          <p:cNvPr id="31" name="Text 29"/>
          <p:cNvSpPr txBox="1"/>
          <p:nvPr/>
        </p:nvSpPr>
        <p:spPr>
          <a:xfrm>
            <a:off x="7040880" y="4773168"/>
            <a:ext cx="4389120" cy="274320"/>
          </a:xfrm>
          <a:prstGeom prst="rect">
            <a:avLst/>
          </a:prstGeom>
          <a:noFill/>
          <a:ln/>
        </p:spPr>
        <p:txBody>
          <a:bodyPr wrap="square" lIns="0" tIns="0" rIns="0" bIns="0" rtlCol="0" anchor="t"/>
          <a:lstStyle/>
          <a:p>
            <a:pPr indent="0" marL="0">
              <a:buNone/>
            </a:pPr>
            <a:r>
              <a:rPr lang="en-US" sz="1400" dirty="0">
                <a:solidFill>
                  <a:schemeClr val="bg1"/>
                </a:solidFill>
              </a:rPr>
              <a:t>Only to challenge them, never to describe a child.</a:t>
            </a:r>
            <a:endParaRPr lang="en-US" sz="1400" dirty="0"/>
          </a:p>
        </p:txBody>
      </p:sp>
      <p:sp>
        <p:nvSpPr>
          <p:cNvPr id="32" name="Style detail 1"/>
          <p:cNvSpPr/>
          <p:nvPr/>
        </p:nvSpPr>
        <p:spPr>
          <a:xfrm>
            <a:off x="548640" y="5486400"/>
            <a:ext cx="3931920" cy="420624"/>
          </a:xfrm>
          <a:prstGeom prst="roundRect">
            <a:avLst>
              <a:gd name="adj" fmla="val 50000"/>
            </a:avLst>
          </a:prstGeom>
          <a:solidFill>
            <a:schemeClr val="bg1"/>
          </a:solidFill>
          <a:ln/>
        </p:spPr>
        <p:txBody>
          <a:bodyPr wrap="square" lIns="0" tIns="0" rIns="0" bIns="0" rtlCol="0" anchor="ctr"/>
          <a:lstStyle/>
          <a:p>
            <a:pPr algn="ctr" indent="0" marL="0">
              <a:buNone/>
            </a:pPr>
            <a:r>
              <a:rPr lang="en-US" sz="1400" dirty="0">
                <a:solidFill>
                  <a:schemeClr val="tx1"/>
                </a:solidFill>
              </a:rPr>
              <a:t>British spelling: organisation, labelling</a:t>
            </a:r>
            <a:endParaRPr lang="en-US" sz="1400" dirty="0"/>
          </a:p>
        </p:txBody>
      </p:sp>
      <p:sp>
        <p:nvSpPr>
          <p:cNvPr id="33" name="Style detail 2"/>
          <p:cNvSpPr/>
          <p:nvPr/>
        </p:nvSpPr>
        <p:spPr>
          <a:xfrm>
            <a:off x="4663440" y="5486400"/>
            <a:ext cx="4480560" cy="420624"/>
          </a:xfrm>
          <a:prstGeom prst="roundRect">
            <a:avLst>
              <a:gd name="adj" fmla="val 50000"/>
            </a:avLst>
          </a:prstGeom>
          <a:solidFill>
            <a:schemeClr val="bg1"/>
          </a:solidFill>
          <a:ln/>
        </p:spPr>
        <p:txBody>
          <a:bodyPr wrap="square" lIns="0" tIns="0" rIns="0" bIns="0" rtlCol="0" anchor="ctr"/>
          <a:lstStyle/>
          <a:p>
            <a:pPr algn="ctr" indent="0" marL="0">
              <a:buNone/>
            </a:pPr>
            <a:r>
              <a:rPr lang="en-US" sz="1400" dirty="0">
                <a:solidFill>
                  <a:schemeClr val="tx1"/>
                </a:solidFill>
              </a:rPr>
              <a:t>Dates and prices: 5th &amp; 6th Dec. 2026 · ₹17,499</a:t>
            </a:r>
            <a:endParaRPr lang="en-US" sz="1400" dirty="0"/>
          </a:p>
        </p:txBody>
      </p:sp>
      <p:sp>
        <p:nvSpPr>
          <p:cNvPr id="34" name="Style detail 3"/>
          <p:cNvSpPr/>
          <p:nvPr/>
        </p:nvSpPr>
        <p:spPr>
          <a:xfrm>
            <a:off x="9326880" y="5486400"/>
            <a:ext cx="1920240" cy="420624"/>
          </a:xfrm>
          <a:prstGeom prst="roundRect">
            <a:avLst>
              <a:gd name="adj" fmla="val 50000"/>
            </a:avLst>
          </a:prstGeom>
          <a:solidFill>
            <a:schemeClr val="bg1"/>
          </a:solidFill>
          <a:ln/>
        </p:spPr>
        <p:txBody>
          <a:bodyPr wrap="square" lIns="0" tIns="0" rIns="0" bIns="0" rtlCol="0" anchor="ctr"/>
          <a:lstStyle/>
          <a:p>
            <a:pPr algn="ctr" indent="0" marL="0">
              <a:buNone/>
            </a:pPr>
            <a:r>
              <a:rPr lang="en-US" sz="1400" dirty="0">
                <a:solidFill>
                  <a:schemeClr val="tx1"/>
                </a:solidFill>
              </a:rPr>
              <a:t>Web: thecub.co.in</a:t>
            </a:r>
            <a:endParaRPr lang="en-US" sz="14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oft cream blob">    </p:cNvPr>
          <p:cNvPicPr>
            <a:picLocks noChangeAspect="1"/>
          </p:cNvPicPr>
          <p:nvPr/>
        </p:nvPicPr>
        <p:blipFill>
          <a:blip r:embed="rId1"/>
          <a:stretch>
            <a:fillRect/>
          </a:stretch>
        </p:blipFill>
        <p:spPr>
          <a:xfrm>
            <a:off x="7818120" y="0"/>
            <a:ext cx="4370832" cy="2423160"/>
          </a:xfrm>
          <a:prstGeom prst="rect">
            <a:avLst/>
          </a:prstGeom>
        </p:spPr>
      </p:pic>
      <p:sp>
        <p:nvSpPr>
          <p:cNvPr id="3" name="Section tag"/>
          <p:cNvSpPr/>
          <p:nvPr/>
        </p:nvSpPr>
        <p:spPr>
          <a:xfrm>
            <a:off x="9521647" y="502920"/>
            <a:ext cx="2121408"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20" kern="0" dirty="0">
                <a:solidFill>
                  <a:schemeClr val="bg1"/>
                </a:solidFill>
                <a:latin typeface="Lexend" pitchFamily="34" charset="0"/>
                <a:ea typeface="Lexend" pitchFamily="34" charset="-122"/>
                <a:cs typeface="Lexend" pitchFamily="34" charset="-120"/>
              </a:rPr>
              <a:t>COLOURS &amp; FONTS</a:t>
            </a:r>
            <a:endParaRPr lang="en-US" sz="1100" dirty="0"/>
          </a:p>
        </p:txBody>
      </p:sp>
      <p:sp>
        <p:nvSpPr>
          <p:cNvPr id="4" name="Text 2"/>
          <p:cNvSpPr/>
          <p:nvPr>
            <p:ph idx="105" type="title" hasCustomPrompt="1"/>
          </p:nvPr>
        </p:nvSpPr>
        <p:spPr>
          <a:xfrm>
            <a:off x="566928" y="457200"/>
            <a:ext cx="7955280" cy="128016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Warm orange.</a:t>
            </a:r>
            <a:endParaRPr lang="en-US" sz="3600" dirty="0"/>
          </a:p>
          <a:p>
            <a:pPr algn="l" indent="0" marL="0">
              <a:lnSpc>
                <a:spcPct val="95000"/>
              </a:lnSpc>
              <a:buNone/>
            </a:pPr>
            <a:r>
              <a:rPr lang="en-US" sz="3600" b="1" dirty="0">
                <a:solidFill>
                  <a:schemeClr val="accent1"/>
                </a:solidFill>
              </a:rPr>
              <a:t>Calm charcoal.</a:t>
            </a:r>
            <a:endParaRPr lang="en-US" sz="3600" dirty="0"/>
          </a:p>
        </p:txBody>
      </p:sp>
      <p:sp>
        <p:nvSpPr>
          <p:cNvPr id="5" name="The Cub Orange swatch"/>
          <p:cNvSpPr/>
          <p:nvPr/>
        </p:nvSpPr>
        <p:spPr>
          <a:xfrm>
            <a:off x="548640" y="1920240"/>
            <a:ext cx="1508760" cy="2011680"/>
          </a:xfrm>
          <a:prstGeom prst="roundRect">
            <a:avLst>
              <a:gd name="adj" fmla="val 12121"/>
            </a:avLst>
          </a:prstGeom>
          <a:solidFill>
            <a:schemeClr val="accent1"/>
          </a:solidFill>
          <a:ln/>
        </p:spPr>
      </p:sp>
      <p:sp>
        <p:nvSpPr>
          <p:cNvPr id="6" name="Text 3"/>
          <p:cNvSpPr txBox="1"/>
          <p:nvPr/>
        </p:nvSpPr>
        <p:spPr>
          <a:xfrm>
            <a:off x="548640" y="4069080"/>
            <a:ext cx="1508760" cy="256032"/>
          </a:xfrm>
          <a:prstGeom prst="rect">
            <a:avLst/>
          </a:prstGeom>
          <a:noFill/>
          <a:ln/>
        </p:spPr>
        <p:txBody>
          <a:bodyPr wrap="square" lIns="0" tIns="0" rIns="0" bIns="0" rtlCol="0" anchor="t"/>
          <a:lstStyle/>
          <a:p>
            <a:pPr indent="0" marL="0">
              <a:buNone/>
            </a:pPr>
            <a:r>
              <a:rPr lang="en-US" sz="1500" b="1" dirty="0">
                <a:solidFill>
                  <a:schemeClr val="tx1"/>
                </a:solidFill>
              </a:rPr>
              <a:t>The Cub Orange</a:t>
            </a:r>
            <a:endParaRPr lang="en-US" sz="1500" dirty="0"/>
          </a:p>
        </p:txBody>
      </p:sp>
      <p:sp>
        <p:nvSpPr>
          <p:cNvPr id="7" name="Text 4"/>
          <p:cNvSpPr txBox="1"/>
          <p:nvPr/>
        </p:nvSpPr>
        <p:spPr>
          <a:xfrm>
            <a:off x="548640" y="4352544"/>
            <a:ext cx="1508760" cy="228600"/>
          </a:xfrm>
          <a:prstGeom prst="rect">
            <a:avLst/>
          </a:prstGeom>
          <a:noFill/>
          <a:ln/>
        </p:spPr>
        <p:txBody>
          <a:bodyPr wrap="square" lIns="0" tIns="0" rIns="0" bIns="0" rtlCol="0" anchor="t"/>
          <a:lstStyle/>
          <a:p>
            <a:pPr indent="0" marL="0">
              <a:buNone/>
            </a:pPr>
            <a:r>
              <a:rPr lang="en-US" sz="1200" dirty="0">
                <a:solidFill>
                  <a:schemeClr val="tx1"/>
                </a:solidFill>
                <a:latin typeface="Lexend" pitchFamily="34" charset="0"/>
                <a:ea typeface="Lexend" pitchFamily="34" charset="-122"/>
                <a:cs typeface="Lexend" pitchFamily="34" charset="-120"/>
              </a:rPr>
              <a:t>#F0853E</a:t>
            </a:r>
            <a:endParaRPr lang="en-US" sz="1200" dirty="0"/>
          </a:p>
        </p:txBody>
      </p:sp>
      <p:sp>
        <p:nvSpPr>
          <p:cNvPr id="8" name="Text 5"/>
          <p:cNvSpPr txBox="1"/>
          <p:nvPr/>
        </p:nvSpPr>
        <p:spPr>
          <a:xfrm>
            <a:off x="548640" y="4645152"/>
            <a:ext cx="1508760" cy="548640"/>
          </a:xfrm>
          <a:prstGeom prst="rect">
            <a:avLst/>
          </a:prstGeom>
          <a:noFill/>
          <a:ln/>
        </p:spPr>
        <p:txBody>
          <a:bodyPr wrap="square" lIns="0" tIns="0" rIns="0" bIns="0" rtlCol="0" anchor="t"/>
          <a:lstStyle/>
          <a:p>
            <a:pPr indent="0" marL="0">
              <a:buNone/>
            </a:pPr>
            <a:r>
              <a:rPr lang="en-US" sz="1350" dirty="0">
                <a:solidFill>
                  <a:schemeClr val="tx1"/>
                </a:solidFill>
              </a:rPr>
              <a:t>Accents, labels, icons, CTAs</a:t>
            </a:r>
            <a:endParaRPr lang="en-US" sz="1350" dirty="0"/>
          </a:p>
        </p:txBody>
      </p:sp>
      <p:sp>
        <p:nvSpPr>
          <p:cNvPr id="9" name="Charcoal swatch"/>
          <p:cNvSpPr/>
          <p:nvPr/>
        </p:nvSpPr>
        <p:spPr>
          <a:xfrm>
            <a:off x="2221992" y="1920240"/>
            <a:ext cx="1508760" cy="2011680"/>
          </a:xfrm>
          <a:prstGeom prst="roundRect">
            <a:avLst>
              <a:gd name="adj" fmla="val 12121"/>
            </a:avLst>
          </a:prstGeom>
          <a:solidFill>
            <a:schemeClr val="tx1"/>
          </a:solidFill>
          <a:ln/>
        </p:spPr>
      </p:sp>
      <p:sp>
        <p:nvSpPr>
          <p:cNvPr id="10" name="Text 7"/>
          <p:cNvSpPr txBox="1"/>
          <p:nvPr/>
        </p:nvSpPr>
        <p:spPr>
          <a:xfrm>
            <a:off x="2221992" y="4069080"/>
            <a:ext cx="1508760" cy="256032"/>
          </a:xfrm>
          <a:prstGeom prst="rect">
            <a:avLst/>
          </a:prstGeom>
          <a:noFill/>
          <a:ln/>
        </p:spPr>
        <p:txBody>
          <a:bodyPr wrap="square" lIns="0" tIns="0" rIns="0" bIns="0" rtlCol="0" anchor="t"/>
          <a:lstStyle/>
          <a:p>
            <a:pPr indent="0" marL="0">
              <a:buNone/>
            </a:pPr>
            <a:r>
              <a:rPr lang="en-US" sz="1500" b="1" dirty="0">
                <a:solidFill>
                  <a:schemeClr val="tx1"/>
                </a:solidFill>
              </a:rPr>
              <a:t>Charcoal</a:t>
            </a:r>
            <a:endParaRPr lang="en-US" sz="1500" dirty="0"/>
          </a:p>
        </p:txBody>
      </p:sp>
      <p:sp>
        <p:nvSpPr>
          <p:cNvPr id="11" name="Text 8"/>
          <p:cNvSpPr txBox="1"/>
          <p:nvPr/>
        </p:nvSpPr>
        <p:spPr>
          <a:xfrm>
            <a:off x="2221992" y="4352544"/>
            <a:ext cx="1508760" cy="228600"/>
          </a:xfrm>
          <a:prstGeom prst="rect">
            <a:avLst/>
          </a:prstGeom>
          <a:noFill/>
          <a:ln/>
        </p:spPr>
        <p:txBody>
          <a:bodyPr wrap="square" lIns="0" tIns="0" rIns="0" bIns="0" rtlCol="0" anchor="t"/>
          <a:lstStyle/>
          <a:p>
            <a:pPr indent="0" marL="0">
              <a:buNone/>
            </a:pPr>
            <a:r>
              <a:rPr lang="en-US" sz="1200" dirty="0">
                <a:solidFill>
                  <a:schemeClr val="tx1"/>
                </a:solidFill>
                <a:latin typeface="Lexend" pitchFamily="34" charset="0"/>
                <a:ea typeface="Lexend" pitchFamily="34" charset="-122"/>
                <a:cs typeface="Lexend" pitchFamily="34" charset="-120"/>
              </a:rPr>
              <a:t>#2B2B2B</a:t>
            </a:r>
            <a:endParaRPr lang="en-US" sz="1200" dirty="0"/>
          </a:p>
        </p:txBody>
      </p:sp>
      <p:sp>
        <p:nvSpPr>
          <p:cNvPr id="12" name="Text 9"/>
          <p:cNvSpPr txBox="1"/>
          <p:nvPr/>
        </p:nvSpPr>
        <p:spPr>
          <a:xfrm>
            <a:off x="2221992" y="4645152"/>
            <a:ext cx="1508760" cy="548640"/>
          </a:xfrm>
          <a:prstGeom prst="rect">
            <a:avLst/>
          </a:prstGeom>
          <a:noFill/>
          <a:ln/>
        </p:spPr>
        <p:txBody>
          <a:bodyPr wrap="square" lIns="0" tIns="0" rIns="0" bIns="0" rtlCol="0" anchor="t"/>
          <a:lstStyle/>
          <a:p>
            <a:pPr indent="0" marL="0">
              <a:buNone/>
            </a:pPr>
            <a:r>
              <a:rPr lang="en-US" sz="1350" dirty="0">
                <a:solidFill>
                  <a:schemeClr val="tx1"/>
                </a:solidFill>
              </a:rPr>
              <a:t>Headlines, backgrounds, wordmark</a:t>
            </a:r>
            <a:endParaRPr lang="en-US" sz="1350" dirty="0"/>
          </a:p>
        </p:txBody>
      </p:sp>
      <p:sp>
        <p:nvSpPr>
          <p:cNvPr id="13" name="Cream swatch"/>
          <p:cNvSpPr/>
          <p:nvPr/>
        </p:nvSpPr>
        <p:spPr>
          <a:xfrm>
            <a:off x="3895344" y="1920240"/>
            <a:ext cx="1508760" cy="2011680"/>
          </a:xfrm>
          <a:prstGeom prst="roundRect">
            <a:avLst>
              <a:gd name="adj" fmla="val 12121"/>
            </a:avLst>
          </a:prstGeom>
          <a:solidFill>
            <a:schemeClr val="bg2"/>
          </a:solidFill>
          <a:ln w="12700">
            <a:solidFill>
              <a:srgbClr val="E3D9CF"/>
            </a:solidFill>
            <a:prstDash val="solid"/>
          </a:ln>
        </p:spPr>
      </p:sp>
      <p:sp>
        <p:nvSpPr>
          <p:cNvPr id="14" name="Text 11"/>
          <p:cNvSpPr txBox="1"/>
          <p:nvPr/>
        </p:nvSpPr>
        <p:spPr>
          <a:xfrm>
            <a:off x="3895344" y="4069080"/>
            <a:ext cx="1508760" cy="256032"/>
          </a:xfrm>
          <a:prstGeom prst="rect">
            <a:avLst/>
          </a:prstGeom>
          <a:noFill/>
          <a:ln/>
        </p:spPr>
        <p:txBody>
          <a:bodyPr wrap="square" lIns="0" tIns="0" rIns="0" bIns="0" rtlCol="0" anchor="t"/>
          <a:lstStyle/>
          <a:p>
            <a:pPr indent="0" marL="0">
              <a:buNone/>
            </a:pPr>
            <a:r>
              <a:rPr lang="en-US" sz="1500" b="1" dirty="0">
                <a:solidFill>
                  <a:schemeClr val="tx1"/>
                </a:solidFill>
              </a:rPr>
              <a:t>Cream</a:t>
            </a:r>
            <a:endParaRPr lang="en-US" sz="1500" dirty="0"/>
          </a:p>
        </p:txBody>
      </p:sp>
      <p:sp>
        <p:nvSpPr>
          <p:cNvPr id="15" name="Text 12"/>
          <p:cNvSpPr txBox="1"/>
          <p:nvPr/>
        </p:nvSpPr>
        <p:spPr>
          <a:xfrm>
            <a:off x="3895344" y="4352544"/>
            <a:ext cx="1508760" cy="228600"/>
          </a:xfrm>
          <a:prstGeom prst="rect">
            <a:avLst/>
          </a:prstGeom>
          <a:noFill/>
          <a:ln/>
        </p:spPr>
        <p:txBody>
          <a:bodyPr wrap="square" lIns="0" tIns="0" rIns="0" bIns="0" rtlCol="0" anchor="t"/>
          <a:lstStyle/>
          <a:p>
            <a:pPr indent="0" marL="0">
              <a:buNone/>
            </a:pPr>
            <a:r>
              <a:rPr lang="en-US" sz="1200" dirty="0">
                <a:solidFill>
                  <a:schemeClr val="tx1"/>
                </a:solidFill>
                <a:latin typeface="Lexend" pitchFamily="34" charset="0"/>
                <a:ea typeface="Lexend" pitchFamily="34" charset="-122"/>
                <a:cs typeface="Lexend" pitchFamily="34" charset="-120"/>
              </a:rPr>
              <a:t>#FDF6EE</a:t>
            </a:r>
            <a:endParaRPr lang="en-US" sz="1200" dirty="0"/>
          </a:p>
        </p:txBody>
      </p:sp>
      <p:sp>
        <p:nvSpPr>
          <p:cNvPr id="16" name="Text 13"/>
          <p:cNvSpPr txBox="1"/>
          <p:nvPr/>
        </p:nvSpPr>
        <p:spPr>
          <a:xfrm>
            <a:off x="3895344" y="4645152"/>
            <a:ext cx="1508760" cy="548640"/>
          </a:xfrm>
          <a:prstGeom prst="rect">
            <a:avLst/>
          </a:prstGeom>
          <a:noFill/>
          <a:ln/>
        </p:spPr>
        <p:txBody>
          <a:bodyPr wrap="square" lIns="0" tIns="0" rIns="0" bIns="0" rtlCol="0" anchor="t"/>
          <a:lstStyle/>
          <a:p>
            <a:pPr indent="0" marL="0">
              <a:buNone/>
            </a:pPr>
            <a:r>
              <a:rPr lang="en-US" sz="1350" dirty="0">
                <a:solidFill>
                  <a:schemeClr val="tx1"/>
                </a:solidFill>
              </a:rPr>
              <a:t>Backgrounds, cards, panels</a:t>
            </a:r>
            <a:endParaRPr lang="en-US" sz="1350" dirty="0"/>
          </a:p>
        </p:txBody>
      </p:sp>
      <p:sp>
        <p:nvSpPr>
          <p:cNvPr id="17" name="White swatch"/>
          <p:cNvSpPr/>
          <p:nvPr/>
        </p:nvSpPr>
        <p:spPr>
          <a:xfrm>
            <a:off x="5568696" y="1920240"/>
            <a:ext cx="1508760" cy="2011680"/>
          </a:xfrm>
          <a:prstGeom prst="roundRect">
            <a:avLst>
              <a:gd name="adj" fmla="val 12121"/>
            </a:avLst>
          </a:prstGeom>
          <a:solidFill>
            <a:schemeClr val="bg1"/>
          </a:solidFill>
          <a:ln w="12700">
            <a:solidFill>
              <a:srgbClr val="E3D9CF"/>
            </a:solidFill>
            <a:prstDash val="solid"/>
          </a:ln>
        </p:spPr>
      </p:sp>
      <p:sp>
        <p:nvSpPr>
          <p:cNvPr id="18" name="Text 15"/>
          <p:cNvSpPr txBox="1"/>
          <p:nvPr/>
        </p:nvSpPr>
        <p:spPr>
          <a:xfrm>
            <a:off x="5568696" y="4069080"/>
            <a:ext cx="1508760" cy="256032"/>
          </a:xfrm>
          <a:prstGeom prst="rect">
            <a:avLst/>
          </a:prstGeom>
          <a:noFill/>
          <a:ln/>
        </p:spPr>
        <p:txBody>
          <a:bodyPr wrap="square" lIns="0" tIns="0" rIns="0" bIns="0" rtlCol="0" anchor="t"/>
          <a:lstStyle/>
          <a:p>
            <a:pPr indent="0" marL="0">
              <a:buNone/>
            </a:pPr>
            <a:r>
              <a:rPr lang="en-US" sz="1500" b="1" dirty="0">
                <a:solidFill>
                  <a:schemeClr val="tx1"/>
                </a:solidFill>
              </a:rPr>
              <a:t>White</a:t>
            </a:r>
            <a:endParaRPr lang="en-US" sz="1500" dirty="0"/>
          </a:p>
        </p:txBody>
      </p:sp>
      <p:sp>
        <p:nvSpPr>
          <p:cNvPr id="19" name="Text 16"/>
          <p:cNvSpPr txBox="1"/>
          <p:nvPr/>
        </p:nvSpPr>
        <p:spPr>
          <a:xfrm>
            <a:off x="5568696" y="4352544"/>
            <a:ext cx="1508760" cy="228600"/>
          </a:xfrm>
          <a:prstGeom prst="rect">
            <a:avLst/>
          </a:prstGeom>
          <a:noFill/>
          <a:ln/>
        </p:spPr>
        <p:txBody>
          <a:bodyPr wrap="square" lIns="0" tIns="0" rIns="0" bIns="0" rtlCol="0" anchor="t"/>
          <a:lstStyle/>
          <a:p>
            <a:pPr indent="0" marL="0">
              <a:buNone/>
            </a:pPr>
            <a:r>
              <a:rPr lang="en-US" sz="1200" dirty="0">
                <a:solidFill>
                  <a:schemeClr val="tx1"/>
                </a:solidFill>
                <a:latin typeface="Lexend" pitchFamily="34" charset="0"/>
                <a:ea typeface="Lexend" pitchFamily="34" charset="-122"/>
                <a:cs typeface="Lexend" pitchFamily="34" charset="-120"/>
              </a:rPr>
              <a:t>#FFFFFF</a:t>
            </a:r>
            <a:endParaRPr lang="en-US" sz="1200" dirty="0"/>
          </a:p>
        </p:txBody>
      </p:sp>
      <p:sp>
        <p:nvSpPr>
          <p:cNvPr id="20" name="Text 17"/>
          <p:cNvSpPr txBox="1"/>
          <p:nvPr/>
        </p:nvSpPr>
        <p:spPr>
          <a:xfrm>
            <a:off x="5568696" y="4645152"/>
            <a:ext cx="1508760" cy="548640"/>
          </a:xfrm>
          <a:prstGeom prst="rect">
            <a:avLst/>
          </a:prstGeom>
          <a:noFill/>
          <a:ln/>
        </p:spPr>
        <p:txBody>
          <a:bodyPr wrap="square" lIns="0" tIns="0" rIns="0" bIns="0" rtlCol="0" anchor="t"/>
          <a:lstStyle/>
          <a:p>
            <a:pPr indent="0" marL="0">
              <a:buNone/>
            </a:pPr>
            <a:r>
              <a:rPr lang="en-US" sz="1350" dirty="0">
                <a:solidFill>
                  <a:schemeClr val="tx1"/>
                </a:solidFill>
              </a:rPr>
              <a:t>Cards, digital UI, breathing space</a:t>
            </a:r>
            <a:endParaRPr lang="en-US" sz="1350" dirty="0"/>
          </a:p>
        </p:txBody>
      </p:sp>
      <p:sp>
        <p:nvSpPr>
          <p:cNvPr id="21" name="Text 18"/>
          <p:cNvSpPr txBox="1"/>
          <p:nvPr/>
        </p:nvSpPr>
        <p:spPr>
          <a:xfrm>
            <a:off x="548640" y="5440680"/>
            <a:ext cx="6492240" cy="365760"/>
          </a:xfrm>
          <a:prstGeom prst="rect">
            <a:avLst/>
          </a:prstGeom>
          <a:noFill/>
          <a:ln/>
        </p:spPr>
        <p:txBody>
          <a:bodyPr wrap="square" lIns="0" tIns="0" rIns="0" bIns="0" rtlCol="0" anchor="t"/>
          <a:lstStyle/>
          <a:p>
            <a:pPr indent="0" marL="0">
              <a:buNone/>
            </a:pPr>
            <a:r>
              <a:rPr lang="en-US" sz="1600" b="1" dirty="0">
                <a:solidFill>
                  <a:schemeClr val="tx1"/>
                </a:solidFill>
              </a:rPr>
              <a:t>Orange leads. Charcoal is for text. Cream and white give space.</a:t>
            </a:r>
            <a:endParaRPr lang="en-US" sz="1600" dirty="0"/>
          </a:p>
        </p:txBody>
      </p:sp>
      <p:sp>
        <p:nvSpPr>
          <p:cNvPr id="22" name="Playfair Display card"/>
          <p:cNvSpPr/>
          <p:nvPr/>
        </p:nvSpPr>
        <p:spPr>
          <a:xfrm>
            <a:off x="7406640" y="1920240"/>
            <a:ext cx="4233672" cy="1133856"/>
          </a:xfrm>
          <a:prstGeom prst="roundRect">
            <a:avLst>
              <a:gd name="adj" fmla="val 14516"/>
            </a:avLst>
          </a:prstGeom>
          <a:solidFill>
            <a:schemeClr val="bg2"/>
          </a:solidFill>
          <a:ln/>
        </p:spPr>
      </p:sp>
      <p:sp>
        <p:nvSpPr>
          <p:cNvPr id="23" name="Text 20"/>
          <p:cNvSpPr txBox="1"/>
          <p:nvPr/>
        </p:nvSpPr>
        <p:spPr>
          <a:xfrm>
            <a:off x="7635240" y="2075688"/>
            <a:ext cx="3840480" cy="256032"/>
          </a:xfrm>
          <a:prstGeom prst="rect">
            <a:avLst/>
          </a:prstGeom>
          <a:noFill/>
          <a:ln/>
        </p:spPr>
        <p:txBody>
          <a:bodyPr wrap="square" lIns="0" tIns="0" rIns="0" bIns="0" rtlCol="0" anchor="t"/>
          <a:lstStyle/>
          <a:p>
            <a:pPr indent="0" marL="0">
              <a:buNone/>
            </a:pPr>
            <a:r>
              <a:rPr lang="en-US" sz="1400" b="1" dirty="0">
                <a:solidFill>
                  <a:schemeClr val="tx1"/>
                </a:solidFill>
              </a:rPr>
              <a:t>Playfair Display</a:t>
            </a:r>
            <a:pPr indent="0" marL="0">
              <a:buNone/>
            </a:pPr>
            <a:r>
              <a:rPr lang="en-US" sz="1400" dirty="0">
                <a:solidFill>
                  <a:schemeClr val="tx1"/>
                </a:solidFill>
              </a:rPr>
              <a:t>  ·  Headlines</a:t>
            </a:r>
            <a:endParaRPr lang="en-US" sz="1400" dirty="0"/>
          </a:p>
        </p:txBody>
      </p:sp>
      <p:sp>
        <p:nvSpPr>
          <p:cNvPr id="24" name="Text 21"/>
          <p:cNvSpPr txBox="1"/>
          <p:nvPr/>
        </p:nvSpPr>
        <p:spPr>
          <a:xfrm>
            <a:off x="7635240" y="2395728"/>
            <a:ext cx="3840480" cy="502920"/>
          </a:xfrm>
          <a:prstGeom prst="rect">
            <a:avLst/>
          </a:prstGeom>
          <a:noFill/>
          <a:ln/>
        </p:spPr>
        <p:txBody>
          <a:bodyPr wrap="square" lIns="0" tIns="0" rIns="0" bIns="0" rtlCol="0" anchor="ctr"/>
          <a:lstStyle/>
          <a:p>
            <a:pPr indent="0" marL="0">
              <a:buNone/>
            </a:pPr>
            <a:r>
              <a:rPr lang="en-US" sz="2600" b="1" dirty="0">
                <a:solidFill>
                  <a:schemeClr val="tx1"/>
                </a:solidFill>
                <a:latin typeface="+mj-lt" pitchFamily="34" charset="0"/>
                <a:ea typeface="+mj-lt" pitchFamily="34" charset="-122"/>
                <a:cs typeface="+mj-lt" pitchFamily="34" charset="-120"/>
              </a:rPr>
              <a:t>Understanding Comes</a:t>
            </a:r>
            <a:endParaRPr lang="en-US" sz="2600" dirty="0"/>
          </a:p>
        </p:txBody>
      </p:sp>
      <p:sp>
        <p:nvSpPr>
          <p:cNvPr id="25" name="Glacial Indifference card"/>
          <p:cNvSpPr/>
          <p:nvPr/>
        </p:nvSpPr>
        <p:spPr>
          <a:xfrm>
            <a:off x="7406640" y="3182112"/>
            <a:ext cx="4233672" cy="1133856"/>
          </a:xfrm>
          <a:prstGeom prst="roundRect">
            <a:avLst>
              <a:gd name="adj" fmla="val 14516"/>
            </a:avLst>
          </a:prstGeom>
          <a:solidFill>
            <a:schemeClr val="bg2"/>
          </a:solidFill>
          <a:ln/>
        </p:spPr>
      </p:sp>
      <p:sp>
        <p:nvSpPr>
          <p:cNvPr id="26" name="Text 23"/>
          <p:cNvSpPr txBox="1"/>
          <p:nvPr/>
        </p:nvSpPr>
        <p:spPr>
          <a:xfrm>
            <a:off x="7635240" y="3337560"/>
            <a:ext cx="3840480" cy="256032"/>
          </a:xfrm>
          <a:prstGeom prst="rect">
            <a:avLst/>
          </a:prstGeom>
          <a:noFill/>
          <a:ln/>
        </p:spPr>
        <p:txBody>
          <a:bodyPr wrap="square" lIns="0" tIns="0" rIns="0" bIns="0" rtlCol="0" anchor="t"/>
          <a:lstStyle/>
          <a:p>
            <a:pPr indent="0" marL="0">
              <a:buNone/>
            </a:pPr>
            <a:r>
              <a:rPr lang="en-US" sz="1400" b="1" dirty="0">
                <a:solidFill>
                  <a:schemeClr val="tx1"/>
                </a:solidFill>
              </a:rPr>
              <a:t>Glacial Indifference</a:t>
            </a:r>
            <a:pPr indent="0" marL="0">
              <a:buNone/>
            </a:pPr>
            <a:r>
              <a:rPr lang="en-US" sz="1400" dirty="0">
                <a:solidFill>
                  <a:schemeClr val="tx1"/>
                </a:solidFill>
              </a:rPr>
              <a:t>  ·  Body text and lists</a:t>
            </a:r>
            <a:endParaRPr lang="en-US" sz="1400" dirty="0"/>
          </a:p>
        </p:txBody>
      </p:sp>
      <p:sp>
        <p:nvSpPr>
          <p:cNvPr id="27" name="Text 24"/>
          <p:cNvSpPr txBox="1"/>
          <p:nvPr/>
        </p:nvSpPr>
        <p:spPr>
          <a:xfrm>
            <a:off x="7635240" y="3657600"/>
            <a:ext cx="3840480" cy="502920"/>
          </a:xfrm>
          <a:prstGeom prst="rect">
            <a:avLst/>
          </a:prstGeom>
          <a:noFill/>
          <a:ln/>
        </p:spPr>
        <p:txBody>
          <a:bodyPr wrap="square" lIns="0" tIns="0" rIns="0" bIns="0" rtlCol="0" anchor="ctr"/>
          <a:lstStyle/>
          <a:p>
            <a:pPr indent="0" marL="0">
              <a:buNone/>
            </a:pPr>
            <a:r>
              <a:rPr lang="en-US" sz="2000" dirty="0">
                <a:solidFill>
                  <a:schemeClr val="tx1"/>
                </a:solidFill>
              </a:rPr>
              <a:t>Give clear, simple instructions.</a:t>
            </a:r>
            <a:endParaRPr lang="en-US" sz="2000" dirty="0"/>
          </a:p>
        </p:txBody>
      </p:sp>
      <p:sp>
        <p:nvSpPr>
          <p:cNvPr id="28" name="Lexend card"/>
          <p:cNvSpPr/>
          <p:nvPr/>
        </p:nvSpPr>
        <p:spPr>
          <a:xfrm>
            <a:off x="7406640" y="4443984"/>
            <a:ext cx="4233672" cy="1133856"/>
          </a:xfrm>
          <a:prstGeom prst="roundRect">
            <a:avLst>
              <a:gd name="adj" fmla="val 14516"/>
            </a:avLst>
          </a:prstGeom>
          <a:solidFill>
            <a:schemeClr val="bg2"/>
          </a:solidFill>
          <a:ln/>
        </p:spPr>
      </p:sp>
      <p:sp>
        <p:nvSpPr>
          <p:cNvPr id="29" name="Text 26"/>
          <p:cNvSpPr txBox="1"/>
          <p:nvPr/>
        </p:nvSpPr>
        <p:spPr>
          <a:xfrm>
            <a:off x="7635240" y="4599432"/>
            <a:ext cx="3840480" cy="256032"/>
          </a:xfrm>
          <a:prstGeom prst="rect">
            <a:avLst/>
          </a:prstGeom>
          <a:noFill/>
          <a:ln/>
        </p:spPr>
        <p:txBody>
          <a:bodyPr wrap="square" lIns="0" tIns="0" rIns="0" bIns="0" rtlCol="0" anchor="t"/>
          <a:lstStyle/>
          <a:p>
            <a:pPr indent="0" marL="0">
              <a:buNone/>
            </a:pPr>
            <a:r>
              <a:rPr lang="en-US" sz="1400" b="1" dirty="0">
                <a:solidFill>
                  <a:schemeClr val="tx1"/>
                </a:solidFill>
              </a:rPr>
              <a:t>Lexend</a:t>
            </a:r>
            <a:pPr indent="0" marL="0">
              <a:buNone/>
            </a:pPr>
            <a:r>
              <a:rPr lang="en-US" sz="1400" dirty="0">
                <a:solidFill>
                  <a:schemeClr val="tx1"/>
                </a:solidFill>
              </a:rPr>
              <a:t>  ·  Labels and tags</a:t>
            </a:r>
            <a:endParaRPr lang="en-US" sz="1400" dirty="0"/>
          </a:p>
        </p:txBody>
      </p:sp>
      <p:sp>
        <p:nvSpPr>
          <p:cNvPr id="30" name="Text 27"/>
          <p:cNvSpPr txBox="1"/>
          <p:nvPr/>
        </p:nvSpPr>
        <p:spPr>
          <a:xfrm>
            <a:off x="7635240" y="4919472"/>
            <a:ext cx="3840480" cy="502920"/>
          </a:xfrm>
          <a:prstGeom prst="rect">
            <a:avLst/>
          </a:prstGeom>
          <a:noFill/>
          <a:ln/>
        </p:spPr>
        <p:txBody>
          <a:bodyPr wrap="square" lIns="0" tIns="0" rIns="0" bIns="0" rtlCol="0" anchor="ctr"/>
          <a:lstStyle/>
          <a:p>
            <a:pPr indent="0" marL="0">
              <a:buNone/>
            </a:pPr>
            <a:r>
              <a:rPr lang="en-US" sz="1600" b="1" spc="150" kern="0" dirty="0">
                <a:solidFill>
                  <a:schemeClr val="tx1"/>
                </a:solidFill>
                <a:latin typeface="Lexend" pitchFamily="34" charset="0"/>
                <a:ea typeface="Lexend" pitchFamily="34" charset="-122"/>
                <a:cs typeface="Lexend" pitchFamily="34" charset="-120"/>
              </a:rPr>
              <a:t>AWARENESS SERIES</a:t>
            </a:r>
            <a:endParaRPr lang="en-US" sz="16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p:cNvSpPr/>
          <p:nvPr/>
        </p:nvSpPr>
        <p:spPr>
          <a:xfrm>
            <a:off x="9845345" y="502920"/>
            <a:ext cx="179771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20" kern="0" dirty="0">
                <a:solidFill>
                  <a:schemeClr val="bg1"/>
                </a:solidFill>
                <a:latin typeface="Lexend" pitchFamily="34" charset="0"/>
                <a:ea typeface="Lexend" pitchFamily="34" charset="-122"/>
                <a:cs typeface="Lexend" pitchFamily="34" charset="-120"/>
              </a:rPr>
              <a:t>DESIGN STYLE</a:t>
            </a:r>
            <a:endParaRPr lang="en-US" sz="1100" dirty="0"/>
          </a:p>
        </p:txBody>
      </p:sp>
      <p:sp>
        <p:nvSpPr>
          <p:cNvPr id="3" name="Text 2"/>
          <p:cNvSpPr/>
          <p:nvPr>
            <p:ph idx="105" type="title" hasCustomPrompt="1"/>
          </p:nvPr>
        </p:nvSpPr>
        <p:spPr>
          <a:xfrm>
            <a:off x="566928" y="457200"/>
            <a:ext cx="7955280" cy="128016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Every post</a:t>
            </a:r>
            <a:endParaRPr lang="en-US" sz="3600" dirty="0"/>
          </a:p>
          <a:p>
            <a:pPr algn="l" indent="0" marL="0">
              <a:lnSpc>
                <a:spcPct val="95000"/>
              </a:lnSpc>
              <a:buNone/>
            </a:pPr>
            <a:r>
              <a:rPr lang="en-US" sz="3600" b="1" dirty="0">
                <a:solidFill>
                  <a:schemeClr val="accent1"/>
                </a:solidFill>
              </a:rPr>
              <a:t>looks like us.</a:t>
            </a:r>
            <a:endParaRPr lang="en-US" sz="3600" dirty="0"/>
          </a:p>
        </p:txBody>
      </p:sp>
      <p:pic>
        <p:nvPicPr>
          <p:cNvPr id="4" name="Image 0" descr="The Cub Awareness Series cover slide">    </p:cNvPr>
          <p:cNvPicPr>
            <a:picLocks noChangeAspect="1"/>
          </p:cNvPicPr>
          <p:nvPr/>
        </p:nvPicPr>
        <p:blipFill>
          <a:blip r:embed="rId1"/>
          <a:stretch>
            <a:fillRect/>
          </a:stretch>
        </p:blipFill>
        <p:spPr>
          <a:xfrm>
            <a:off x="5212080" y="1783080"/>
            <a:ext cx="3071665" cy="3840480"/>
          </a:xfrm>
          <a:prstGeom prst="rect">
            <a:avLst/>
          </a:prstGeom>
        </p:spPr>
      </p:pic>
      <p:pic>
        <p:nvPicPr>
          <p:cNvPr id="5" name="Image 1" descr="The Cub Awareness Series content slide on orange">    </p:cNvPr>
          <p:cNvPicPr>
            <a:picLocks noChangeAspect="1"/>
          </p:cNvPicPr>
          <p:nvPr/>
        </p:nvPicPr>
        <p:blipFill>
          <a:blip r:embed="rId2"/>
          <a:stretch>
            <a:fillRect/>
          </a:stretch>
        </p:blipFill>
        <p:spPr>
          <a:xfrm>
            <a:off x="8558065" y="1783080"/>
            <a:ext cx="3071665" cy="3840480"/>
          </a:xfrm>
          <a:prstGeom prst="rect">
            <a:avLst/>
          </a:prstGeom>
        </p:spPr>
      </p:pic>
      <p:sp>
        <p:nvSpPr>
          <p:cNvPr id="6" name="Number 1"/>
          <p:cNvSpPr/>
          <p:nvPr/>
        </p:nvSpPr>
        <p:spPr>
          <a:xfrm>
            <a:off x="5670965" y="1915668"/>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1</a:t>
            </a:r>
            <a:endParaRPr lang="en-US" sz="1200" dirty="0"/>
          </a:p>
        </p:txBody>
      </p:sp>
      <p:sp>
        <p:nvSpPr>
          <p:cNvPr id="7" name="Number 2"/>
          <p:cNvSpPr/>
          <p:nvPr/>
        </p:nvSpPr>
        <p:spPr>
          <a:xfrm>
            <a:off x="6899631" y="1973275"/>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2</a:t>
            </a:r>
            <a:endParaRPr lang="en-US" sz="1200" dirty="0"/>
          </a:p>
        </p:txBody>
      </p:sp>
      <p:sp>
        <p:nvSpPr>
          <p:cNvPr id="8" name="Number 3"/>
          <p:cNvSpPr/>
          <p:nvPr/>
        </p:nvSpPr>
        <p:spPr>
          <a:xfrm>
            <a:off x="5363799" y="2779776"/>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3</a:t>
            </a:r>
            <a:endParaRPr lang="en-US" sz="1200" dirty="0"/>
          </a:p>
        </p:txBody>
      </p:sp>
      <p:sp>
        <p:nvSpPr>
          <p:cNvPr id="9" name="Number 4"/>
          <p:cNvSpPr/>
          <p:nvPr/>
        </p:nvSpPr>
        <p:spPr>
          <a:xfrm>
            <a:off x="5179499" y="4047134"/>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4</a:t>
            </a:r>
            <a:endParaRPr lang="en-US" sz="1200" dirty="0"/>
          </a:p>
        </p:txBody>
      </p:sp>
      <p:sp>
        <p:nvSpPr>
          <p:cNvPr id="10" name="Number 5"/>
          <p:cNvSpPr/>
          <p:nvPr/>
        </p:nvSpPr>
        <p:spPr>
          <a:xfrm>
            <a:off x="7913281" y="3547872"/>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5</a:t>
            </a:r>
            <a:endParaRPr lang="en-US" sz="1200" dirty="0"/>
          </a:p>
        </p:txBody>
      </p:sp>
      <p:sp>
        <p:nvSpPr>
          <p:cNvPr id="11" name="Number 6"/>
          <p:cNvSpPr/>
          <p:nvPr/>
        </p:nvSpPr>
        <p:spPr>
          <a:xfrm>
            <a:off x="7513964" y="5276088"/>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6</a:t>
            </a:r>
            <a:endParaRPr lang="en-US" sz="1200" dirty="0"/>
          </a:p>
        </p:txBody>
      </p:sp>
      <p:sp>
        <p:nvSpPr>
          <p:cNvPr id="12" name="Text 8"/>
          <p:cNvSpPr txBox="1"/>
          <p:nvPr/>
        </p:nvSpPr>
        <p:spPr>
          <a:xfrm>
            <a:off x="5212080" y="5733288"/>
            <a:ext cx="3071665" cy="274320"/>
          </a:xfrm>
          <a:prstGeom prst="rect">
            <a:avLst/>
          </a:prstGeom>
          <a:noFill/>
          <a:ln/>
        </p:spPr>
        <p:txBody>
          <a:bodyPr wrap="square" lIns="0" tIns="0" rIns="0" bIns="0" rtlCol="0" anchor="t"/>
          <a:lstStyle/>
          <a:p>
            <a:pPr algn="ctr" indent="0" marL="0">
              <a:buNone/>
            </a:pPr>
            <a:r>
              <a:rPr lang="en-US" sz="1300" dirty="0">
                <a:solidFill>
                  <a:schemeClr val="tx1"/>
                </a:solidFill>
              </a:rPr>
              <a:t>Cover slide: white</a:t>
            </a:r>
            <a:endParaRPr lang="en-US" sz="1300" dirty="0"/>
          </a:p>
        </p:txBody>
      </p:sp>
      <p:sp>
        <p:nvSpPr>
          <p:cNvPr id="13" name="Text 9"/>
          <p:cNvSpPr txBox="1"/>
          <p:nvPr/>
        </p:nvSpPr>
        <p:spPr>
          <a:xfrm>
            <a:off x="8558065" y="5733288"/>
            <a:ext cx="3071665" cy="274320"/>
          </a:xfrm>
          <a:prstGeom prst="rect">
            <a:avLst/>
          </a:prstGeom>
          <a:noFill/>
          <a:ln/>
        </p:spPr>
        <p:txBody>
          <a:bodyPr wrap="square" lIns="0" tIns="0" rIns="0" bIns="0" rtlCol="0" anchor="t"/>
          <a:lstStyle/>
          <a:p>
            <a:pPr algn="ctr" indent="0" marL="0">
              <a:buNone/>
            </a:pPr>
            <a:r>
              <a:rPr lang="en-US" sz="1300" dirty="0">
                <a:solidFill>
                  <a:schemeClr val="tx1"/>
                </a:solidFill>
              </a:rPr>
              <a:t>Content slide: orange</a:t>
            </a:r>
            <a:endParaRPr lang="en-US" sz="1300" dirty="0"/>
          </a:p>
        </p:txBody>
      </p:sp>
      <p:sp>
        <p:nvSpPr>
          <p:cNvPr id="14" name="Number 1"/>
          <p:cNvSpPr/>
          <p:nvPr/>
        </p:nvSpPr>
        <p:spPr>
          <a:xfrm>
            <a:off x="548640" y="1865376"/>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1</a:t>
            </a:r>
            <a:endParaRPr lang="en-US" sz="1200" dirty="0"/>
          </a:p>
        </p:txBody>
      </p:sp>
      <p:sp>
        <p:nvSpPr>
          <p:cNvPr id="15" name="Text 11"/>
          <p:cNvSpPr txBox="1"/>
          <p:nvPr/>
        </p:nvSpPr>
        <p:spPr>
          <a:xfrm>
            <a:off x="1051560" y="1828800"/>
            <a:ext cx="3840480" cy="256032"/>
          </a:xfrm>
          <a:prstGeom prst="rect">
            <a:avLst/>
          </a:prstGeom>
          <a:noFill/>
          <a:ln/>
        </p:spPr>
        <p:txBody>
          <a:bodyPr wrap="square" lIns="0" tIns="0" rIns="0" bIns="0" rtlCol="0" anchor="t"/>
          <a:lstStyle/>
          <a:p>
            <a:pPr indent="0" marL="0">
              <a:buNone/>
            </a:pPr>
            <a:r>
              <a:rPr lang="en-US" sz="1600" b="1" dirty="0">
                <a:solidFill>
                  <a:schemeClr val="tx1"/>
                </a:solidFill>
              </a:rPr>
              <a:t>Logo</a:t>
            </a:r>
            <a:endParaRPr lang="en-US" sz="1600" dirty="0"/>
          </a:p>
        </p:txBody>
      </p:sp>
      <p:sp>
        <p:nvSpPr>
          <p:cNvPr id="16" name="Text 12"/>
          <p:cNvSpPr txBox="1"/>
          <p:nvPr/>
        </p:nvSpPr>
        <p:spPr>
          <a:xfrm>
            <a:off x="1051560" y="2093976"/>
            <a:ext cx="3977640" cy="365760"/>
          </a:xfrm>
          <a:prstGeom prst="rect">
            <a:avLst/>
          </a:prstGeom>
          <a:noFill/>
          <a:ln/>
        </p:spPr>
        <p:txBody>
          <a:bodyPr wrap="square" lIns="0" tIns="0" rIns="0" bIns="0" rtlCol="0" anchor="t"/>
          <a:lstStyle/>
          <a:p>
            <a:pPr indent="0" marL="0">
              <a:buNone/>
            </a:pPr>
            <a:r>
              <a:rPr lang="en-US" sz="1400" dirty="0">
                <a:solidFill>
                  <a:schemeClr val="tx1"/>
                </a:solidFill>
              </a:rPr>
              <a:t>Top-left on cover slides, on white.</a:t>
            </a:r>
            <a:endParaRPr lang="en-US" sz="1400" dirty="0"/>
          </a:p>
        </p:txBody>
      </p:sp>
      <p:sp>
        <p:nvSpPr>
          <p:cNvPr id="17" name="Number 2"/>
          <p:cNvSpPr/>
          <p:nvPr/>
        </p:nvSpPr>
        <p:spPr>
          <a:xfrm>
            <a:off x="548640" y="2532888"/>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2</a:t>
            </a:r>
            <a:endParaRPr lang="en-US" sz="1200" dirty="0"/>
          </a:p>
        </p:txBody>
      </p:sp>
      <p:sp>
        <p:nvSpPr>
          <p:cNvPr id="18" name="Text 14"/>
          <p:cNvSpPr txBox="1"/>
          <p:nvPr/>
        </p:nvSpPr>
        <p:spPr>
          <a:xfrm>
            <a:off x="1051560" y="2496312"/>
            <a:ext cx="3840480" cy="256032"/>
          </a:xfrm>
          <a:prstGeom prst="rect">
            <a:avLst/>
          </a:prstGeom>
          <a:noFill/>
          <a:ln/>
        </p:spPr>
        <p:txBody>
          <a:bodyPr wrap="square" lIns="0" tIns="0" rIns="0" bIns="0" rtlCol="0" anchor="t"/>
          <a:lstStyle/>
          <a:p>
            <a:pPr indent="0" marL="0">
              <a:buNone/>
            </a:pPr>
            <a:r>
              <a:rPr lang="en-US" sz="1600" b="1" dirty="0">
                <a:solidFill>
                  <a:schemeClr val="tx1"/>
                </a:solidFill>
              </a:rPr>
              <a:t>Tag pill</a:t>
            </a:r>
            <a:endParaRPr lang="en-US" sz="1600" dirty="0"/>
          </a:p>
        </p:txBody>
      </p:sp>
      <p:sp>
        <p:nvSpPr>
          <p:cNvPr id="19" name="Text 15"/>
          <p:cNvSpPr txBox="1"/>
          <p:nvPr/>
        </p:nvSpPr>
        <p:spPr>
          <a:xfrm>
            <a:off x="1051560" y="2761488"/>
            <a:ext cx="3977640" cy="365760"/>
          </a:xfrm>
          <a:prstGeom prst="rect">
            <a:avLst/>
          </a:prstGeom>
          <a:noFill/>
          <a:ln/>
        </p:spPr>
        <p:txBody>
          <a:bodyPr wrap="square" lIns="0" tIns="0" rIns="0" bIns="0" rtlCol="0" anchor="t"/>
          <a:lstStyle/>
          <a:p>
            <a:pPr indent="0" marL="0">
              <a:buNone/>
            </a:pPr>
            <a:r>
              <a:rPr lang="en-US" sz="1400" dirty="0">
                <a:solidFill>
                  <a:schemeClr val="tx1"/>
                </a:solidFill>
              </a:rPr>
              <a:t>Names the series, e.g. Awareness Series.</a:t>
            </a:r>
            <a:endParaRPr lang="en-US" sz="1400" dirty="0"/>
          </a:p>
        </p:txBody>
      </p:sp>
      <p:sp>
        <p:nvSpPr>
          <p:cNvPr id="20" name="Number 3"/>
          <p:cNvSpPr/>
          <p:nvPr/>
        </p:nvSpPr>
        <p:spPr>
          <a:xfrm>
            <a:off x="548640" y="320040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3</a:t>
            </a:r>
            <a:endParaRPr lang="en-US" sz="1200" dirty="0"/>
          </a:p>
        </p:txBody>
      </p:sp>
      <p:sp>
        <p:nvSpPr>
          <p:cNvPr id="21" name="Text 17"/>
          <p:cNvSpPr txBox="1"/>
          <p:nvPr/>
        </p:nvSpPr>
        <p:spPr>
          <a:xfrm>
            <a:off x="1051560" y="3163824"/>
            <a:ext cx="3840480" cy="256032"/>
          </a:xfrm>
          <a:prstGeom prst="rect">
            <a:avLst/>
          </a:prstGeom>
          <a:noFill/>
          <a:ln/>
        </p:spPr>
        <p:txBody>
          <a:bodyPr wrap="square" lIns="0" tIns="0" rIns="0" bIns="0" rtlCol="0" anchor="t"/>
          <a:lstStyle/>
          <a:p>
            <a:pPr indent="0" marL="0">
              <a:buNone/>
            </a:pPr>
            <a:r>
              <a:rPr lang="en-US" sz="1600" b="1" dirty="0">
                <a:solidFill>
                  <a:schemeClr val="tx1"/>
                </a:solidFill>
              </a:rPr>
              <a:t>Rounded photo</a:t>
            </a:r>
            <a:endParaRPr lang="en-US" sz="1600" dirty="0"/>
          </a:p>
        </p:txBody>
      </p:sp>
      <p:sp>
        <p:nvSpPr>
          <p:cNvPr id="22" name="Text 18"/>
          <p:cNvSpPr txBox="1"/>
          <p:nvPr/>
        </p:nvSpPr>
        <p:spPr>
          <a:xfrm>
            <a:off x="1051560" y="3429000"/>
            <a:ext cx="3977640" cy="365760"/>
          </a:xfrm>
          <a:prstGeom prst="rect">
            <a:avLst/>
          </a:prstGeom>
          <a:noFill/>
          <a:ln/>
        </p:spPr>
        <p:txBody>
          <a:bodyPr wrap="square" lIns="0" tIns="0" rIns="0" bIns="0" rtlCol="0" anchor="t"/>
          <a:lstStyle/>
          <a:p>
            <a:pPr indent="0" marL="0">
              <a:buNone/>
            </a:pPr>
            <a:r>
              <a:rPr lang="en-US" sz="1400" dirty="0">
                <a:solidFill>
                  <a:schemeClr val="tx1"/>
                </a:solidFill>
              </a:rPr>
              <a:t>Soft corners. One calm picture.</a:t>
            </a:r>
            <a:endParaRPr lang="en-US" sz="1400" dirty="0"/>
          </a:p>
        </p:txBody>
      </p:sp>
      <p:sp>
        <p:nvSpPr>
          <p:cNvPr id="23" name="Number 4"/>
          <p:cNvSpPr/>
          <p:nvPr/>
        </p:nvSpPr>
        <p:spPr>
          <a:xfrm>
            <a:off x="548640" y="3867912"/>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4</a:t>
            </a:r>
            <a:endParaRPr lang="en-US" sz="1200" dirty="0"/>
          </a:p>
        </p:txBody>
      </p:sp>
      <p:sp>
        <p:nvSpPr>
          <p:cNvPr id="24" name="Text 20"/>
          <p:cNvSpPr txBox="1"/>
          <p:nvPr/>
        </p:nvSpPr>
        <p:spPr>
          <a:xfrm>
            <a:off x="1051560" y="3831336"/>
            <a:ext cx="3840480" cy="256032"/>
          </a:xfrm>
          <a:prstGeom prst="rect">
            <a:avLst/>
          </a:prstGeom>
          <a:noFill/>
          <a:ln/>
        </p:spPr>
        <p:txBody>
          <a:bodyPr wrap="square" lIns="0" tIns="0" rIns="0" bIns="0" rtlCol="0" anchor="t"/>
          <a:lstStyle/>
          <a:p>
            <a:pPr indent="0" marL="0">
              <a:buNone/>
            </a:pPr>
            <a:r>
              <a:rPr lang="en-US" sz="1600" b="1" dirty="0">
                <a:solidFill>
                  <a:schemeClr val="tx1"/>
                </a:solidFill>
              </a:rPr>
              <a:t>Two-tone headline</a:t>
            </a:r>
            <a:endParaRPr lang="en-US" sz="1600" dirty="0"/>
          </a:p>
        </p:txBody>
      </p:sp>
      <p:sp>
        <p:nvSpPr>
          <p:cNvPr id="25" name="Text 21"/>
          <p:cNvSpPr txBox="1"/>
          <p:nvPr/>
        </p:nvSpPr>
        <p:spPr>
          <a:xfrm>
            <a:off x="1051560" y="4096512"/>
            <a:ext cx="3977640" cy="365760"/>
          </a:xfrm>
          <a:prstGeom prst="rect">
            <a:avLst/>
          </a:prstGeom>
          <a:noFill/>
          <a:ln/>
        </p:spPr>
        <p:txBody>
          <a:bodyPr wrap="square" lIns="0" tIns="0" rIns="0" bIns="0" rtlCol="0" anchor="t"/>
          <a:lstStyle/>
          <a:p>
            <a:pPr indent="0" marL="0">
              <a:buNone/>
            </a:pPr>
            <a:r>
              <a:rPr lang="en-US" sz="1400" dirty="0">
                <a:solidFill>
                  <a:schemeClr val="tx1"/>
                </a:solidFill>
              </a:rPr>
              <a:t>Playfair Bold. Charcoal setup, orange payoff.</a:t>
            </a:r>
            <a:endParaRPr lang="en-US" sz="1400" dirty="0"/>
          </a:p>
        </p:txBody>
      </p:sp>
      <p:sp>
        <p:nvSpPr>
          <p:cNvPr id="26" name="Number 5"/>
          <p:cNvSpPr/>
          <p:nvPr/>
        </p:nvSpPr>
        <p:spPr>
          <a:xfrm>
            <a:off x="548640" y="4535424"/>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5</a:t>
            </a:r>
            <a:endParaRPr lang="en-US" sz="1200" dirty="0"/>
          </a:p>
        </p:txBody>
      </p:sp>
      <p:sp>
        <p:nvSpPr>
          <p:cNvPr id="27" name="Text 23"/>
          <p:cNvSpPr txBox="1"/>
          <p:nvPr/>
        </p:nvSpPr>
        <p:spPr>
          <a:xfrm>
            <a:off x="1051560" y="4498848"/>
            <a:ext cx="3840480" cy="256032"/>
          </a:xfrm>
          <a:prstGeom prst="rect">
            <a:avLst/>
          </a:prstGeom>
          <a:noFill/>
          <a:ln/>
        </p:spPr>
        <p:txBody>
          <a:bodyPr wrap="square" lIns="0" tIns="0" rIns="0" bIns="0" rtlCol="0" anchor="t"/>
          <a:lstStyle/>
          <a:p>
            <a:pPr indent="0" marL="0">
              <a:buNone/>
            </a:pPr>
            <a:r>
              <a:rPr lang="en-US" sz="1600" b="1" dirty="0">
                <a:solidFill>
                  <a:schemeClr val="tx1"/>
                </a:solidFill>
              </a:rPr>
              <a:t>Warm extras</a:t>
            </a:r>
            <a:endParaRPr lang="en-US" sz="1600" dirty="0"/>
          </a:p>
        </p:txBody>
      </p:sp>
      <p:sp>
        <p:nvSpPr>
          <p:cNvPr id="28" name="Text 24"/>
          <p:cNvSpPr txBox="1"/>
          <p:nvPr/>
        </p:nvSpPr>
        <p:spPr>
          <a:xfrm>
            <a:off x="1051560" y="4764024"/>
            <a:ext cx="3977640" cy="365760"/>
          </a:xfrm>
          <a:prstGeom prst="rect">
            <a:avLst/>
          </a:prstGeom>
          <a:noFill/>
          <a:ln/>
        </p:spPr>
        <p:txBody>
          <a:bodyPr wrap="square" lIns="0" tIns="0" rIns="0" bIns="0" rtlCol="0" anchor="t"/>
          <a:lstStyle/>
          <a:p>
            <a:pPr indent="0" marL="0">
              <a:buNone/>
            </a:pPr>
            <a:r>
              <a:rPr lang="en-US" sz="1400" dirty="0">
                <a:solidFill>
                  <a:schemeClr val="tx1"/>
                </a:solidFill>
              </a:rPr>
              <a:t>Blobs, dots and sparks. Keep them light.</a:t>
            </a:r>
            <a:endParaRPr lang="en-US" sz="1400" dirty="0"/>
          </a:p>
        </p:txBody>
      </p:sp>
      <p:sp>
        <p:nvSpPr>
          <p:cNvPr id="29" name="Number 6"/>
          <p:cNvSpPr/>
          <p:nvPr/>
        </p:nvSpPr>
        <p:spPr>
          <a:xfrm>
            <a:off x="548640" y="5202936"/>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Lexend" pitchFamily="34" charset="0"/>
                <a:ea typeface="Lexend" pitchFamily="34" charset="-122"/>
                <a:cs typeface="Lexend" pitchFamily="34" charset="-120"/>
              </a:rPr>
              <a:t>6</a:t>
            </a:r>
            <a:endParaRPr lang="en-US" sz="1200" dirty="0"/>
          </a:p>
        </p:txBody>
      </p:sp>
      <p:sp>
        <p:nvSpPr>
          <p:cNvPr id="30" name="Text 26"/>
          <p:cNvSpPr txBox="1"/>
          <p:nvPr/>
        </p:nvSpPr>
        <p:spPr>
          <a:xfrm>
            <a:off x="1051560" y="5166360"/>
            <a:ext cx="3840480" cy="256032"/>
          </a:xfrm>
          <a:prstGeom prst="rect">
            <a:avLst/>
          </a:prstGeom>
          <a:noFill/>
          <a:ln/>
        </p:spPr>
        <p:txBody>
          <a:bodyPr wrap="square" lIns="0" tIns="0" rIns="0" bIns="0" rtlCol="0" anchor="t"/>
          <a:lstStyle/>
          <a:p>
            <a:pPr indent="0" marL="0">
              <a:buNone/>
            </a:pPr>
            <a:r>
              <a:rPr lang="en-US" sz="1600" b="1" dirty="0">
                <a:solidFill>
                  <a:schemeClr val="tx1"/>
                </a:solidFill>
              </a:rPr>
              <a:t>Page counter</a:t>
            </a:r>
            <a:endParaRPr lang="en-US" sz="1600" dirty="0"/>
          </a:p>
        </p:txBody>
      </p:sp>
      <p:sp>
        <p:nvSpPr>
          <p:cNvPr id="31" name="Text 27"/>
          <p:cNvSpPr txBox="1"/>
          <p:nvPr/>
        </p:nvSpPr>
        <p:spPr>
          <a:xfrm>
            <a:off x="1051560" y="5431536"/>
            <a:ext cx="3977640" cy="365760"/>
          </a:xfrm>
          <a:prstGeom prst="rect">
            <a:avLst/>
          </a:prstGeom>
          <a:noFill/>
          <a:ln/>
        </p:spPr>
        <p:txBody>
          <a:bodyPr wrap="square" lIns="0" tIns="0" rIns="0" bIns="0" rtlCol="0" anchor="t"/>
          <a:lstStyle/>
          <a:p>
            <a:pPr indent="0" marL="0">
              <a:buNone/>
            </a:pPr>
            <a:r>
              <a:rPr lang="en-US" sz="1400" dirty="0">
                <a:solidFill>
                  <a:schemeClr val="tx1"/>
                </a:solidFill>
              </a:rPr>
              <a:t>Orange corner and arrow on every slide.</a:t>
            </a:r>
            <a:endParaRPr lang="en-US" sz="14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p:cNvSpPr/>
          <p:nvPr/>
        </p:nvSpPr>
        <p:spPr>
          <a:xfrm>
            <a:off x="8766353" y="502920"/>
            <a:ext cx="2876702" cy="329184"/>
          </a:xfrm>
          <a:prstGeom prst="roundRect">
            <a:avLst>
              <a:gd name="adj" fmla="val 50000"/>
            </a:avLst>
          </a:prstGeom>
          <a:solidFill>
            <a:schemeClr val="bg1"/>
          </a:solidFill>
          <a:ln/>
        </p:spPr>
        <p:txBody>
          <a:bodyPr wrap="square" lIns="0" tIns="0" rIns="0" bIns="0" rtlCol="0" anchor="ctr"/>
          <a:lstStyle/>
          <a:p>
            <a:pPr algn="ctr" indent="0" marL="0">
              <a:buNone/>
            </a:pPr>
            <a:r>
              <a:rPr lang="en-US" sz="1100" b="1" spc="120" kern="0" dirty="0">
                <a:solidFill>
                  <a:schemeClr val="tx1"/>
                </a:solidFill>
                <a:latin typeface="Lexend" pitchFamily="34" charset="0"/>
                <a:ea typeface="Lexend" pitchFamily="34" charset="-122"/>
                <a:cs typeface="Lexend" pitchFamily="34" charset="-120"/>
              </a:rPr>
              <a:t>VISUALS · REELS · MORE</a:t>
            </a:r>
            <a:endParaRPr lang="en-US" sz="1100" dirty="0"/>
          </a:p>
        </p:txBody>
      </p:sp>
      <p:sp>
        <p:nvSpPr>
          <p:cNvPr id="3" name="Text 2"/>
          <p:cNvSpPr/>
          <p:nvPr>
            <p:ph idx="105" type="title" hasCustomPrompt="1"/>
          </p:nvPr>
        </p:nvSpPr>
        <p:spPr>
          <a:xfrm>
            <a:off x="566928" y="457200"/>
            <a:ext cx="7955280" cy="128016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rPr>
              <a:t>Same look.</a:t>
            </a:r>
            <a:endParaRPr lang="en-US" sz="3600" dirty="0"/>
          </a:p>
          <a:p>
            <a:pPr algn="l" indent="0" marL="0">
              <a:lnSpc>
                <a:spcPct val="95000"/>
              </a:lnSpc>
              <a:buNone/>
            </a:pPr>
            <a:r>
              <a:rPr lang="en-US" sz="3600" b="1" dirty="0">
                <a:solidFill>
                  <a:schemeClr val="tx1"/>
                </a:solidFill>
              </a:rPr>
              <a:t>Every format.</a:t>
            </a:r>
            <a:endParaRPr lang="en-US" sz="3600" dirty="0"/>
          </a:p>
        </p:txBody>
      </p:sp>
      <p:sp>
        <p:nvSpPr>
          <p:cNvPr id="4" name="Photos card"/>
          <p:cNvSpPr/>
          <p:nvPr/>
        </p:nvSpPr>
        <p:spPr>
          <a:xfrm>
            <a:off x="548640" y="1874520"/>
            <a:ext cx="3520440" cy="3520440"/>
          </a:xfrm>
          <a:prstGeom prst="roundRect">
            <a:avLst>
              <a:gd name="adj" fmla="val 5714"/>
            </a:avLst>
          </a:prstGeom>
          <a:solidFill>
            <a:schemeClr val="bg1"/>
          </a:solidFill>
          <a:ln/>
        </p:spPr>
      </p:sp>
      <p:pic>
        <p:nvPicPr>
          <p:cNvPr id="5" name="Image 0" descr="Photo in a rounded frame, as used in our posts">    </p:cNvPr>
          <p:cNvPicPr>
            <a:picLocks noChangeAspect="1"/>
          </p:cNvPicPr>
          <p:nvPr/>
        </p:nvPicPr>
        <p:blipFill>
          <a:blip r:embed="rId1"/>
          <a:stretch>
            <a:fillRect/>
          </a:stretch>
        </p:blipFill>
        <p:spPr>
          <a:xfrm>
            <a:off x="960120" y="2148840"/>
            <a:ext cx="1371600" cy="2055571"/>
          </a:xfrm>
          <a:prstGeom prst="rect">
            <a:avLst/>
          </a:prstGeom>
        </p:spPr>
      </p:pic>
      <p:pic>
        <p:nvPicPr>
          <p:cNvPr id="6" name="Image 1" descr="Hand-drawn doodle of a puzzled child with a question mark">    </p:cNvPr>
          <p:cNvPicPr>
            <a:picLocks noChangeAspect="1"/>
          </p:cNvPicPr>
          <p:nvPr/>
        </p:nvPicPr>
        <p:blipFill>
          <a:blip r:embed="rId2"/>
          <a:stretch>
            <a:fillRect/>
          </a:stretch>
        </p:blipFill>
        <p:spPr>
          <a:xfrm>
            <a:off x="2514600" y="2221992"/>
            <a:ext cx="1252728" cy="1972361"/>
          </a:xfrm>
          <a:prstGeom prst="rect">
            <a:avLst/>
          </a:prstGeom>
        </p:spPr>
      </p:pic>
      <p:sp>
        <p:nvSpPr>
          <p:cNvPr id="7" name="Text 3"/>
          <p:cNvSpPr txBox="1"/>
          <p:nvPr/>
        </p:nvSpPr>
        <p:spPr>
          <a:xfrm>
            <a:off x="777240" y="4270248"/>
            <a:ext cx="3108960" cy="292608"/>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Photos and drawings</a:t>
            </a:r>
            <a:endParaRPr lang="en-US" sz="1900" dirty="0"/>
          </a:p>
        </p:txBody>
      </p:sp>
      <p:sp>
        <p:nvSpPr>
          <p:cNvPr id="8" name="Text 4"/>
          <p:cNvSpPr txBox="1"/>
          <p:nvPr/>
        </p:nvSpPr>
        <p:spPr>
          <a:xfrm>
            <a:off x="777240" y="4617720"/>
            <a:ext cx="3063240" cy="731520"/>
          </a:xfrm>
          <a:prstGeom prst="rect">
            <a:avLst/>
          </a:prstGeom>
          <a:noFill/>
          <a:ln/>
        </p:spPr>
        <p:txBody>
          <a:bodyPr wrap="square" lIns="0" tIns="0" rIns="0" bIns="0" rtlCol="0" anchor="t"/>
          <a:lstStyle/>
          <a:p>
            <a:pPr indent="0" marL="0">
              <a:buNone/>
            </a:pPr>
            <a:r>
              <a:rPr lang="en-US" sz="1400" dirty="0">
                <a:solidFill>
                  <a:schemeClr val="tx1"/>
                </a:solidFill>
              </a:rPr>
              <a:t>Calm photos in rounded frames. Hand-drawn doodles for tender topics. White line icons on orange.</a:t>
            </a:r>
            <a:endParaRPr lang="en-US" sz="1400" dirty="0"/>
          </a:p>
        </p:txBody>
      </p:sp>
      <p:sp>
        <p:nvSpPr>
          <p:cNvPr id="9" name="Carousels card"/>
          <p:cNvSpPr/>
          <p:nvPr/>
        </p:nvSpPr>
        <p:spPr>
          <a:xfrm>
            <a:off x="4335628" y="1874520"/>
            <a:ext cx="3520440" cy="3520440"/>
          </a:xfrm>
          <a:prstGeom prst="roundRect">
            <a:avLst>
              <a:gd name="adj" fmla="val 5714"/>
            </a:avLst>
          </a:prstGeom>
          <a:solidFill>
            <a:schemeClr val="bg1"/>
          </a:solidFill>
          <a:ln/>
        </p:spPr>
      </p:sp>
      <p:pic>
        <p:nvPicPr>
          <p:cNvPr id="10" name="Image 2" descr="Carousel slide 1">    </p:cNvPr>
          <p:cNvPicPr>
            <a:picLocks noChangeAspect="1"/>
          </p:cNvPicPr>
          <p:nvPr/>
        </p:nvPicPr>
        <p:blipFill>
          <a:blip r:embed="rId3"/>
          <a:stretch>
            <a:fillRect/>
          </a:stretch>
        </p:blipFill>
        <p:spPr>
          <a:xfrm>
            <a:off x="4564228" y="2468880"/>
            <a:ext cx="960120" cy="1200431"/>
          </a:xfrm>
          <a:prstGeom prst="rect">
            <a:avLst/>
          </a:prstGeom>
        </p:spPr>
      </p:pic>
      <p:pic>
        <p:nvPicPr>
          <p:cNvPr id="11" name="Image 3" descr="Carousel slide 2">    </p:cNvPr>
          <p:cNvPicPr>
            <a:picLocks noChangeAspect="1"/>
          </p:cNvPicPr>
          <p:nvPr/>
        </p:nvPicPr>
        <p:blipFill>
          <a:blip r:embed="rId4"/>
          <a:stretch>
            <a:fillRect/>
          </a:stretch>
        </p:blipFill>
        <p:spPr>
          <a:xfrm>
            <a:off x="5615788" y="2468880"/>
            <a:ext cx="960120" cy="1200431"/>
          </a:xfrm>
          <a:prstGeom prst="rect">
            <a:avLst/>
          </a:prstGeom>
        </p:spPr>
      </p:pic>
      <p:pic>
        <p:nvPicPr>
          <p:cNvPr id="12" name="Image 4" descr="Carousel slide 3">    </p:cNvPr>
          <p:cNvPicPr>
            <a:picLocks noChangeAspect="1"/>
          </p:cNvPicPr>
          <p:nvPr/>
        </p:nvPicPr>
        <p:blipFill>
          <a:blip r:embed="rId5"/>
          <a:stretch>
            <a:fillRect/>
          </a:stretch>
        </p:blipFill>
        <p:spPr>
          <a:xfrm>
            <a:off x="6667348" y="2468880"/>
            <a:ext cx="960120" cy="1200431"/>
          </a:xfrm>
          <a:prstGeom prst="rect">
            <a:avLst/>
          </a:prstGeom>
        </p:spPr>
      </p:pic>
      <p:sp>
        <p:nvSpPr>
          <p:cNvPr id="13" name="Text 6"/>
          <p:cNvSpPr txBox="1"/>
          <p:nvPr/>
        </p:nvSpPr>
        <p:spPr>
          <a:xfrm>
            <a:off x="4564228" y="4270248"/>
            <a:ext cx="3108960" cy="292608"/>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Carousels</a:t>
            </a:r>
            <a:endParaRPr lang="en-US" sz="1900" dirty="0"/>
          </a:p>
        </p:txBody>
      </p:sp>
      <p:sp>
        <p:nvSpPr>
          <p:cNvPr id="14" name="Text 7"/>
          <p:cNvSpPr txBox="1"/>
          <p:nvPr/>
        </p:nvSpPr>
        <p:spPr>
          <a:xfrm>
            <a:off x="4564228" y="4617720"/>
            <a:ext cx="3063240" cy="731520"/>
          </a:xfrm>
          <a:prstGeom prst="rect">
            <a:avLst/>
          </a:prstGeom>
          <a:noFill/>
          <a:ln/>
        </p:spPr>
        <p:txBody>
          <a:bodyPr wrap="square" lIns="0" tIns="0" rIns="0" bIns="0" rtlCol="0" anchor="t"/>
          <a:lstStyle/>
          <a:p>
            <a:pPr indent="0" marL="0">
              <a:buNone/>
            </a:pPr>
            <a:r>
              <a:rPr lang="en-US" sz="1400" dirty="0">
                <a:solidFill>
                  <a:schemeClr val="tx1"/>
                </a:solidFill>
              </a:rPr>
              <a:t>5–6 slides, one idea each. Alternate white and orange. Counter and arrow on every slide.</a:t>
            </a:r>
            <a:endParaRPr lang="en-US" sz="1400" dirty="0"/>
          </a:p>
        </p:txBody>
      </p:sp>
      <p:sp>
        <p:nvSpPr>
          <p:cNvPr id="15" name="Reels card"/>
          <p:cNvSpPr/>
          <p:nvPr/>
        </p:nvSpPr>
        <p:spPr>
          <a:xfrm>
            <a:off x="8122615" y="1874520"/>
            <a:ext cx="3520440" cy="3520440"/>
          </a:xfrm>
          <a:prstGeom prst="roundRect">
            <a:avLst>
              <a:gd name="adj" fmla="val 5714"/>
            </a:avLst>
          </a:prstGeom>
          <a:solidFill>
            <a:schemeClr val="bg1"/>
          </a:solidFill>
          <a:ln/>
        </p:spPr>
      </p:sp>
      <p:sp>
        <p:nvSpPr>
          <p:cNvPr id="16" name="Play circle"/>
          <p:cNvSpPr/>
          <p:nvPr/>
        </p:nvSpPr>
        <p:spPr>
          <a:xfrm>
            <a:off x="9265615" y="2286000"/>
            <a:ext cx="1234440" cy="1234440"/>
          </a:xfrm>
          <a:prstGeom prst="ellipse">
            <a:avLst/>
          </a:prstGeom>
          <a:solidFill>
            <a:schemeClr val="accent1"/>
          </a:solidFill>
          <a:ln/>
        </p:spPr>
      </p:sp>
      <p:pic>
        <p:nvPicPr>
          <p:cNvPr id="17" name="Image 5" descr="Play icon">    </p:cNvPr>
          <p:cNvPicPr>
            <a:picLocks noChangeAspect="1"/>
          </p:cNvPicPr>
          <p:nvPr/>
        </p:nvPicPr>
        <p:blipFill>
          <a:blip r:embed="rId6"/>
          <a:stretch>
            <a:fillRect/>
          </a:stretch>
        </p:blipFill>
        <p:spPr>
          <a:xfrm>
            <a:off x="9603943" y="2624328"/>
            <a:ext cx="548640" cy="548640"/>
          </a:xfrm>
          <a:prstGeom prst="rect">
            <a:avLst/>
          </a:prstGeom>
        </p:spPr>
      </p:pic>
      <p:sp>
        <p:nvSpPr>
          <p:cNvPr id="18" name="Orange dot"/>
          <p:cNvSpPr/>
          <p:nvPr/>
        </p:nvSpPr>
        <p:spPr>
          <a:xfrm>
            <a:off x="9128455" y="3703320"/>
            <a:ext cx="365760" cy="365760"/>
          </a:xfrm>
          <a:prstGeom prst="ellipse">
            <a:avLst/>
          </a:prstGeom>
          <a:solidFill>
            <a:schemeClr val="accent1"/>
          </a:solidFill>
          <a:ln w="12700">
            <a:solidFill>
              <a:srgbClr val="E3D9CF"/>
            </a:solidFill>
            <a:prstDash val="solid"/>
          </a:ln>
        </p:spPr>
      </p:sp>
      <p:sp>
        <p:nvSpPr>
          <p:cNvPr id="19" name="Charcoal dot"/>
          <p:cNvSpPr/>
          <p:nvPr/>
        </p:nvSpPr>
        <p:spPr>
          <a:xfrm>
            <a:off x="9631375" y="3703320"/>
            <a:ext cx="365760" cy="365760"/>
          </a:xfrm>
          <a:prstGeom prst="ellipse">
            <a:avLst/>
          </a:prstGeom>
          <a:solidFill>
            <a:schemeClr val="tx1"/>
          </a:solidFill>
          <a:ln w="12700">
            <a:solidFill>
              <a:srgbClr val="E3D9CF"/>
            </a:solidFill>
            <a:prstDash val="solid"/>
          </a:ln>
        </p:spPr>
      </p:sp>
      <p:sp>
        <p:nvSpPr>
          <p:cNvPr id="20" name="Cream dot"/>
          <p:cNvSpPr/>
          <p:nvPr/>
        </p:nvSpPr>
        <p:spPr>
          <a:xfrm>
            <a:off x="10134295" y="3703320"/>
            <a:ext cx="365760" cy="365760"/>
          </a:xfrm>
          <a:prstGeom prst="ellipse">
            <a:avLst/>
          </a:prstGeom>
          <a:solidFill>
            <a:schemeClr val="bg2"/>
          </a:solidFill>
          <a:ln w="12700">
            <a:solidFill>
              <a:srgbClr val="E3D9CF"/>
            </a:solidFill>
            <a:prstDash val="solid"/>
          </a:ln>
        </p:spPr>
      </p:sp>
      <p:sp>
        <p:nvSpPr>
          <p:cNvPr id="21" name="Text 13"/>
          <p:cNvSpPr txBox="1"/>
          <p:nvPr/>
        </p:nvSpPr>
        <p:spPr>
          <a:xfrm>
            <a:off x="8351215" y="4270248"/>
            <a:ext cx="3108960" cy="292608"/>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Reels and video</a:t>
            </a:r>
            <a:endParaRPr lang="en-US" sz="1900" dirty="0"/>
          </a:p>
        </p:txBody>
      </p:sp>
      <p:sp>
        <p:nvSpPr>
          <p:cNvPr id="22" name="Text 14"/>
          <p:cNvSpPr txBox="1"/>
          <p:nvPr/>
        </p:nvSpPr>
        <p:spPr>
          <a:xfrm>
            <a:off x="8351215" y="4617720"/>
            <a:ext cx="3063240" cy="731520"/>
          </a:xfrm>
          <a:prstGeom prst="rect">
            <a:avLst/>
          </a:prstGeom>
          <a:noFill/>
          <a:ln/>
        </p:spPr>
        <p:txBody>
          <a:bodyPr wrap="square" lIns="0" tIns="0" rIns="0" bIns="0" rtlCol="0" anchor="t"/>
          <a:lstStyle/>
          <a:p>
            <a:pPr indent="0" marL="0">
              <a:buNone/>
            </a:pPr>
            <a:r>
              <a:rPr lang="en-US" sz="1400" dirty="0">
                <a:solidFill>
                  <a:schemeClr val="tx1"/>
                </a:solidFill>
              </a:rPr>
              <a:t>Same colours, fonts and calm voice. Logo on white. End with thecub.co.in.</a:t>
            </a:r>
            <a:endParaRPr lang="en-US" sz="1400" dirty="0"/>
          </a:p>
        </p:txBody>
      </p:sp>
      <p:sp>
        <p:nvSpPr>
          <p:cNvPr id="23" name="Text 15"/>
          <p:cNvSpPr txBox="1"/>
          <p:nvPr/>
        </p:nvSpPr>
        <p:spPr>
          <a:xfrm>
            <a:off x="548640" y="5559552"/>
            <a:ext cx="1280160" cy="365760"/>
          </a:xfrm>
          <a:prstGeom prst="rect">
            <a:avLst/>
          </a:prstGeom>
          <a:noFill/>
          <a:ln/>
        </p:spPr>
        <p:txBody>
          <a:bodyPr wrap="square" lIns="0" tIns="0" rIns="0" bIns="0" rtlCol="0" anchor="ctr"/>
          <a:lstStyle/>
          <a:p>
            <a:pPr indent="0" marL="0">
              <a:buNone/>
            </a:pPr>
            <a:r>
              <a:rPr lang="en-US" sz="1500" b="1" dirty="0">
                <a:solidFill>
                  <a:schemeClr val="tx1"/>
                </a:solidFill>
              </a:rPr>
              <a:t>Event posts:</a:t>
            </a:r>
            <a:endParaRPr lang="en-US" sz="1500" dirty="0"/>
          </a:p>
        </p:txBody>
      </p:sp>
      <p:sp>
        <p:nvSpPr>
          <p:cNvPr id="24" name="Event detail 1"/>
          <p:cNvSpPr/>
          <p:nvPr/>
        </p:nvSpPr>
        <p:spPr>
          <a:xfrm>
            <a:off x="1828800" y="5559552"/>
            <a:ext cx="2697480" cy="365760"/>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spc="120" kern="0" dirty="0">
                <a:solidFill>
                  <a:schemeClr val="bg1"/>
                </a:solidFill>
                <a:latin typeface="Lexend" pitchFamily="34" charset="0"/>
                <a:ea typeface="Lexend" pitchFamily="34" charset="-122"/>
                <a:cs typeface="Lexend" pitchFamily="34" charset="-120"/>
              </a:rPr>
              <a:t>Price tags in charcoal pills</a:t>
            </a:r>
            <a:endParaRPr lang="en-US" sz="1200" dirty="0"/>
          </a:p>
        </p:txBody>
      </p:sp>
      <p:sp>
        <p:nvSpPr>
          <p:cNvPr id="25" name="Event detail 2"/>
          <p:cNvSpPr/>
          <p:nvPr/>
        </p:nvSpPr>
        <p:spPr>
          <a:xfrm>
            <a:off x="4663440" y="5559552"/>
            <a:ext cx="2103120" cy="365760"/>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spc="120" kern="0" dirty="0">
                <a:solidFill>
                  <a:schemeClr val="bg1"/>
                </a:solidFill>
                <a:latin typeface="Lexend" pitchFamily="34" charset="0"/>
                <a:ea typeface="Lexend" pitchFamily="34" charset="-122"/>
                <a:cs typeface="Lexend" pitchFamily="34" charset="-120"/>
              </a:rPr>
              <a:t>QR code to register</a:t>
            </a:r>
            <a:endParaRPr lang="en-US" sz="1200" dirty="0"/>
          </a:p>
        </p:txBody>
      </p:sp>
      <p:sp>
        <p:nvSpPr>
          <p:cNvPr id="26" name="Event detail 3"/>
          <p:cNvSpPr/>
          <p:nvPr/>
        </p:nvSpPr>
        <p:spPr>
          <a:xfrm>
            <a:off x="6903720" y="5559552"/>
            <a:ext cx="3017520" cy="365760"/>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spc="120" kern="0" dirty="0">
                <a:solidFill>
                  <a:schemeClr val="bg1"/>
                </a:solidFill>
                <a:latin typeface="Lexend" pitchFamily="34" charset="0"/>
                <a:ea typeface="Lexend" pitchFamily="34" charset="-122"/>
                <a:cs typeface="Lexend" pitchFamily="34" charset="-120"/>
              </a:rPr>
              <a:t>Partner logos on a white plate</a:t>
            </a:r>
            <a:endParaRPr lang="en-US" sz="12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oft cream blob">    </p:cNvPr>
          <p:cNvPicPr>
            <a:picLocks noChangeAspect="1"/>
          </p:cNvPicPr>
          <p:nvPr/>
        </p:nvPicPr>
        <p:blipFill>
          <a:blip r:embed="rId1"/>
          <a:stretch>
            <a:fillRect/>
          </a:stretch>
        </p:blipFill>
        <p:spPr>
          <a:xfrm>
            <a:off x="7818120" y="0"/>
            <a:ext cx="4370832" cy="2423160"/>
          </a:xfrm>
          <a:prstGeom prst="rect">
            <a:avLst/>
          </a:prstGeom>
        </p:spPr>
      </p:pic>
      <p:sp>
        <p:nvSpPr>
          <p:cNvPr id="3" name="Section tag"/>
          <p:cNvSpPr/>
          <p:nvPr/>
        </p:nvSpPr>
        <p:spPr>
          <a:xfrm>
            <a:off x="9737446" y="502920"/>
            <a:ext cx="190561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20" kern="0" dirty="0">
                <a:solidFill>
                  <a:schemeClr val="bg1"/>
                </a:solidFill>
                <a:latin typeface="Lexend" pitchFamily="34" charset="0"/>
                <a:ea typeface="Lexend" pitchFamily="34" charset="-122"/>
                <a:cs typeface="Lexend" pitchFamily="34" charset="-120"/>
              </a:rPr>
              <a:t>DO'S &amp; DON'TS</a:t>
            </a:r>
            <a:endParaRPr lang="en-US" sz="1100" dirty="0"/>
          </a:p>
        </p:txBody>
      </p:sp>
      <p:sp>
        <p:nvSpPr>
          <p:cNvPr id="4" name="Text 2"/>
          <p:cNvSpPr/>
          <p:nvPr>
            <p:ph idx="105" type="title" hasCustomPrompt="1"/>
          </p:nvPr>
        </p:nvSpPr>
        <p:spPr>
          <a:xfrm>
            <a:off x="566928" y="457200"/>
            <a:ext cx="7955280" cy="128016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What to do,</a:t>
            </a:r>
            <a:endParaRPr lang="en-US" sz="3600" dirty="0"/>
          </a:p>
          <a:p>
            <a:pPr algn="l" indent="0" marL="0">
              <a:lnSpc>
                <a:spcPct val="95000"/>
              </a:lnSpc>
              <a:buNone/>
            </a:pPr>
            <a:r>
              <a:rPr lang="en-US" sz="3600" b="1" dirty="0">
                <a:solidFill>
                  <a:schemeClr val="accent1"/>
                </a:solidFill>
              </a:rPr>
              <a:t>what to avoid.</a:t>
            </a:r>
            <a:endParaRPr lang="en-US" sz="3600" dirty="0"/>
          </a:p>
        </p:txBody>
      </p:sp>
      <p:sp>
        <p:nvSpPr>
          <p:cNvPr id="5" name="Do card"/>
          <p:cNvSpPr/>
          <p:nvPr/>
        </p:nvSpPr>
        <p:spPr>
          <a:xfrm>
            <a:off x="548640" y="1874520"/>
            <a:ext cx="5440680" cy="3794760"/>
          </a:xfrm>
          <a:prstGeom prst="roundRect">
            <a:avLst>
              <a:gd name="adj" fmla="val 5301"/>
            </a:avLst>
          </a:prstGeom>
          <a:solidFill>
            <a:schemeClr val="bg2"/>
          </a:solidFill>
          <a:ln/>
        </p:spPr>
      </p:sp>
      <p:sp>
        <p:nvSpPr>
          <p:cNvPr id="6" name="Don't card"/>
          <p:cNvSpPr/>
          <p:nvPr/>
        </p:nvSpPr>
        <p:spPr>
          <a:xfrm>
            <a:off x="6202375" y="1874520"/>
            <a:ext cx="5440680" cy="3794760"/>
          </a:xfrm>
          <a:prstGeom prst="roundRect">
            <a:avLst>
              <a:gd name="adj" fmla="val 5301"/>
            </a:avLst>
          </a:prstGeom>
          <a:solidFill>
            <a:schemeClr val="tx1"/>
          </a:solidFill>
          <a:ln/>
        </p:spPr>
      </p:sp>
      <p:sp>
        <p:nvSpPr>
          <p:cNvPr id="7" name="Text 4"/>
          <p:cNvSpPr txBox="1"/>
          <p:nvPr/>
        </p:nvSpPr>
        <p:spPr>
          <a:xfrm>
            <a:off x="822960" y="2057400"/>
            <a:ext cx="1828800" cy="36576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Do</a:t>
            </a:r>
            <a:endParaRPr lang="en-US" sz="2400" dirty="0"/>
          </a:p>
        </p:txBody>
      </p:sp>
      <p:sp>
        <p:nvSpPr>
          <p:cNvPr id="8" name="Text 5"/>
          <p:cNvSpPr txBox="1"/>
          <p:nvPr/>
        </p:nvSpPr>
        <p:spPr>
          <a:xfrm>
            <a:off x="6476695" y="2057400"/>
            <a:ext cx="1828800" cy="36576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Don’t</a:t>
            </a:r>
            <a:endParaRPr lang="en-US" sz="2400" dirty="0"/>
          </a:p>
        </p:txBody>
      </p:sp>
      <p:sp>
        <p:nvSpPr>
          <p:cNvPr id="9" name="Do 1 circle"/>
          <p:cNvSpPr/>
          <p:nvPr/>
        </p:nvSpPr>
        <p:spPr>
          <a:xfrm>
            <a:off x="822960" y="2606040"/>
            <a:ext cx="365760" cy="365760"/>
          </a:xfrm>
          <a:prstGeom prst="ellipse">
            <a:avLst/>
          </a:prstGeom>
          <a:solidFill>
            <a:schemeClr val="accent1"/>
          </a:solidFill>
          <a:ln/>
        </p:spPr>
      </p:sp>
      <p:pic>
        <p:nvPicPr>
          <p:cNvPr id="10" name="Image 1" descr="Do 1">    </p:cNvPr>
          <p:cNvPicPr>
            <a:picLocks noChangeAspect="1"/>
          </p:cNvPicPr>
          <p:nvPr/>
        </p:nvPicPr>
        <p:blipFill>
          <a:blip r:embed="rId2"/>
          <a:stretch>
            <a:fillRect/>
          </a:stretch>
        </p:blipFill>
        <p:spPr>
          <a:xfrm>
            <a:off x="896112" y="2679192"/>
            <a:ext cx="219456" cy="219456"/>
          </a:xfrm>
          <a:prstGeom prst="rect">
            <a:avLst/>
          </a:prstGeom>
        </p:spPr>
      </p:pic>
      <p:sp>
        <p:nvSpPr>
          <p:cNvPr id="11" name="Text 7"/>
          <p:cNvSpPr txBox="1"/>
          <p:nvPr/>
        </p:nvSpPr>
        <p:spPr>
          <a:xfrm>
            <a:off x="1371600" y="2606040"/>
            <a:ext cx="4434840" cy="365760"/>
          </a:xfrm>
          <a:prstGeom prst="rect">
            <a:avLst/>
          </a:prstGeom>
          <a:noFill/>
          <a:ln/>
        </p:spPr>
        <p:txBody>
          <a:bodyPr wrap="square" lIns="0" tIns="0" rIns="0" bIns="0" rtlCol="0" anchor="ctr"/>
          <a:lstStyle/>
          <a:p>
            <a:pPr indent="0" marL="0">
              <a:buNone/>
            </a:pPr>
            <a:r>
              <a:rPr lang="en-US" sz="1650" dirty="0">
                <a:solidFill>
                  <a:schemeClr val="tx1"/>
                </a:solidFill>
              </a:rPr>
              <a:t>Open with a myth or a question</a:t>
            </a:r>
            <a:endParaRPr lang="en-US" sz="1650" dirty="0"/>
          </a:p>
        </p:txBody>
      </p:sp>
      <p:sp>
        <p:nvSpPr>
          <p:cNvPr id="12" name="Do 2 circle"/>
          <p:cNvSpPr/>
          <p:nvPr/>
        </p:nvSpPr>
        <p:spPr>
          <a:xfrm>
            <a:off x="822960" y="3099816"/>
            <a:ext cx="365760" cy="365760"/>
          </a:xfrm>
          <a:prstGeom prst="ellipse">
            <a:avLst/>
          </a:prstGeom>
          <a:solidFill>
            <a:schemeClr val="accent1"/>
          </a:solidFill>
          <a:ln/>
        </p:spPr>
      </p:sp>
      <p:pic>
        <p:nvPicPr>
          <p:cNvPr id="13" name="Image 2" descr="Do 2">    </p:cNvPr>
          <p:cNvPicPr>
            <a:picLocks noChangeAspect="1"/>
          </p:cNvPicPr>
          <p:nvPr/>
        </p:nvPicPr>
        <p:blipFill>
          <a:blip r:embed="rId3"/>
          <a:stretch>
            <a:fillRect/>
          </a:stretch>
        </p:blipFill>
        <p:spPr>
          <a:xfrm>
            <a:off x="896112" y="3172968"/>
            <a:ext cx="219456" cy="219456"/>
          </a:xfrm>
          <a:prstGeom prst="rect">
            <a:avLst/>
          </a:prstGeom>
        </p:spPr>
      </p:pic>
      <p:sp>
        <p:nvSpPr>
          <p:cNvPr id="14" name="Text 9"/>
          <p:cNvSpPr txBox="1"/>
          <p:nvPr/>
        </p:nvSpPr>
        <p:spPr>
          <a:xfrm>
            <a:off x="1371600" y="3099816"/>
            <a:ext cx="4434840" cy="365760"/>
          </a:xfrm>
          <a:prstGeom prst="rect">
            <a:avLst/>
          </a:prstGeom>
          <a:noFill/>
          <a:ln/>
        </p:spPr>
        <p:txBody>
          <a:bodyPr wrap="square" lIns="0" tIns="0" rIns="0" bIns="0" rtlCol="0" anchor="ctr"/>
          <a:lstStyle/>
          <a:p>
            <a:pPr indent="0" marL="0">
              <a:buNone/>
            </a:pPr>
            <a:r>
              <a:rPr lang="en-US" sz="1650" dirty="0">
                <a:solidFill>
                  <a:schemeClr val="tx1"/>
                </a:solidFill>
              </a:rPr>
              <a:t>Use short, plain sentences</a:t>
            </a:r>
            <a:endParaRPr lang="en-US" sz="1650" dirty="0"/>
          </a:p>
        </p:txBody>
      </p:sp>
      <p:sp>
        <p:nvSpPr>
          <p:cNvPr id="15" name="Do 3 circle"/>
          <p:cNvSpPr/>
          <p:nvPr/>
        </p:nvSpPr>
        <p:spPr>
          <a:xfrm>
            <a:off x="822960" y="3593592"/>
            <a:ext cx="365760" cy="365760"/>
          </a:xfrm>
          <a:prstGeom prst="ellipse">
            <a:avLst/>
          </a:prstGeom>
          <a:solidFill>
            <a:schemeClr val="accent1"/>
          </a:solidFill>
          <a:ln/>
        </p:spPr>
      </p:sp>
      <p:pic>
        <p:nvPicPr>
          <p:cNvPr id="16" name="Image 3" descr="Do 3">    </p:cNvPr>
          <p:cNvPicPr>
            <a:picLocks noChangeAspect="1"/>
          </p:cNvPicPr>
          <p:nvPr/>
        </p:nvPicPr>
        <p:blipFill>
          <a:blip r:embed="rId4"/>
          <a:stretch>
            <a:fillRect/>
          </a:stretch>
        </p:blipFill>
        <p:spPr>
          <a:xfrm>
            <a:off x="896112" y="3666744"/>
            <a:ext cx="219456" cy="219456"/>
          </a:xfrm>
          <a:prstGeom prst="rect">
            <a:avLst/>
          </a:prstGeom>
        </p:spPr>
      </p:pic>
      <p:sp>
        <p:nvSpPr>
          <p:cNvPr id="17" name="Text 11"/>
          <p:cNvSpPr txBox="1"/>
          <p:nvPr/>
        </p:nvSpPr>
        <p:spPr>
          <a:xfrm>
            <a:off x="1371600" y="3593592"/>
            <a:ext cx="4434840" cy="365760"/>
          </a:xfrm>
          <a:prstGeom prst="rect">
            <a:avLst/>
          </a:prstGeom>
          <a:noFill/>
          <a:ln/>
        </p:spPr>
        <p:txBody>
          <a:bodyPr wrap="square" lIns="0" tIns="0" rIns="0" bIns="0" rtlCol="0" anchor="ctr"/>
          <a:lstStyle/>
          <a:p>
            <a:pPr indent="0" marL="0">
              <a:buNone/>
            </a:pPr>
            <a:r>
              <a:rPr lang="en-US" sz="1650" dirty="0">
                <a:solidFill>
                  <a:schemeClr val="tx1"/>
                </a:solidFill>
              </a:rPr>
              <a:t>Say “may” and “can”</a:t>
            </a:r>
            <a:endParaRPr lang="en-US" sz="1650" dirty="0"/>
          </a:p>
        </p:txBody>
      </p:sp>
      <p:sp>
        <p:nvSpPr>
          <p:cNvPr id="18" name="Do 4 circle"/>
          <p:cNvSpPr/>
          <p:nvPr/>
        </p:nvSpPr>
        <p:spPr>
          <a:xfrm>
            <a:off x="822960" y="4087368"/>
            <a:ext cx="365760" cy="365760"/>
          </a:xfrm>
          <a:prstGeom prst="ellipse">
            <a:avLst/>
          </a:prstGeom>
          <a:solidFill>
            <a:schemeClr val="accent1"/>
          </a:solidFill>
          <a:ln/>
        </p:spPr>
      </p:sp>
      <p:pic>
        <p:nvPicPr>
          <p:cNvPr id="19" name="Image 4" descr="Do 4">    </p:cNvPr>
          <p:cNvPicPr>
            <a:picLocks noChangeAspect="1"/>
          </p:cNvPicPr>
          <p:nvPr/>
        </p:nvPicPr>
        <p:blipFill>
          <a:blip r:embed="rId5"/>
          <a:stretch>
            <a:fillRect/>
          </a:stretch>
        </p:blipFill>
        <p:spPr>
          <a:xfrm>
            <a:off x="896112" y="4160520"/>
            <a:ext cx="219456" cy="219456"/>
          </a:xfrm>
          <a:prstGeom prst="rect">
            <a:avLst/>
          </a:prstGeom>
        </p:spPr>
      </p:pic>
      <p:sp>
        <p:nvSpPr>
          <p:cNvPr id="20" name="Text 13"/>
          <p:cNvSpPr txBox="1"/>
          <p:nvPr/>
        </p:nvSpPr>
        <p:spPr>
          <a:xfrm>
            <a:off x="1371600" y="4087368"/>
            <a:ext cx="4434840" cy="365760"/>
          </a:xfrm>
          <a:prstGeom prst="rect">
            <a:avLst/>
          </a:prstGeom>
          <a:noFill/>
          <a:ln/>
        </p:spPr>
        <p:txBody>
          <a:bodyPr wrap="square" lIns="0" tIns="0" rIns="0" bIns="0" rtlCol="0" anchor="ctr"/>
          <a:lstStyle/>
          <a:p>
            <a:pPr indent="0" marL="0">
              <a:buNone/>
            </a:pPr>
            <a:r>
              <a:rPr lang="en-US" sz="1650" dirty="0">
                <a:solidFill>
                  <a:schemeClr val="tx1"/>
                </a:solidFill>
              </a:rPr>
              <a:t>End with reassurance and thecub.co.in</a:t>
            </a:r>
            <a:endParaRPr lang="en-US" sz="1650" dirty="0"/>
          </a:p>
        </p:txBody>
      </p:sp>
      <p:sp>
        <p:nvSpPr>
          <p:cNvPr id="21" name="Do 5 circle"/>
          <p:cNvSpPr/>
          <p:nvPr/>
        </p:nvSpPr>
        <p:spPr>
          <a:xfrm>
            <a:off x="822960" y="4581144"/>
            <a:ext cx="365760" cy="365760"/>
          </a:xfrm>
          <a:prstGeom prst="ellipse">
            <a:avLst/>
          </a:prstGeom>
          <a:solidFill>
            <a:schemeClr val="accent1"/>
          </a:solidFill>
          <a:ln/>
        </p:spPr>
      </p:sp>
      <p:pic>
        <p:nvPicPr>
          <p:cNvPr id="22" name="Image 5" descr="Do 5">    </p:cNvPr>
          <p:cNvPicPr>
            <a:picLocks noChangeAspect="1"/>
          </p:cNvPicPr>
          <p:nvPr/>
        </p:nvPicPr>
        <p:blipFill>
          <a:blip r:embed="rId6"/>
          <a:stretch>
            <a:fillRect/>
          </a:stretch>
        </p:blipFill>
        <p:spPr>
          <a:xfrm>
            <a:off x="896112" y="4654296"/>
            <a:ext cx="219456" cy="219456"/>
          </a:xfrm>
          <a:prstGeom prst="rect">
            <a:avLst/>
          </a:prstGeom>
        </p:spPr>
      </p:pic>
      <p:sp>
        <p:nvSpPr>
          <p:cNvPr id="23" name="Text 15"/>
          <p:cNvSpPr txBox="1"/>
          <p:nvPr/>
        </p:nvSpPr>
        <p:spPr>
          <a:xfrm>
            <a:off x="1371600" y="4581144"/>
            <a:ext cx="4434840" cy="365760"/>
          </a:xfrm>
          <a:prstGeom prst="rect">
            <a:avLst/>
          </a:prstGeom>
          <a:noFill/>
          <a:ln/>
        </p:spPr>
        <p:txBody>
          <a:bodyPr wrap="square" lIns="0" tIns="0" rIns="0" bIns="0" rtlCol="0" anchor="ctr"/>
          <a:lstStyle/>
          <a:p>
            <a:pPr indent="0" marL="0">
              <a:buNone/>
            </a:pPr>
            <a:r>
              <a:rPr lang="en-US" sz="1650" dirty="0">
                <a:solidFill>
                  <a:schemeClr val="tx1"/>
                </a:solidFill>
              </a:rPr>
              <a:t>Use our colours, fonts and the real logo</a:t>
            </a:r>
            <a:endParaRPr lang="en-US" sz="1650" dirty="0"/>
          </a:p>
        </p:txBody>
      </p:sp>
      <p:sp>
        <p:nvSpPr>
          <p:cNvPr id="24" name="Do 6 circle"/>
          <p:cNvSpPr/>
          <p:nvPr/>
        </p:nvSpPr>
        <p:spPr>
          <a:xfrm>
            <a:off x="822960" y="5074920"/>
            <a:ext cx="365760" cy="365760"/>
          </a:xfrm>
          <a:prstGeom prst="ellipse">
            <a:avLst/>
          </a:prstGeom>
          <a:solidFill>
            <a:schemeClr val="accent1"/>
          </a:solidFill>
          <a:ln/>
        </p:spPr>
      </p:sp>
      <p:pic>
        <p:nvPicPr>
          <p:cNvPr id="25" name="Image 6" descr="Do 6">    </p:cNvPr>
          <p:cNvPicPr>
            <a:picLocks noChangeAspect="1"/>
          </p:cNvPicPr>
          <p:nvPr/>
        </p:nvPicPr>
        <p:blipFill>
          <a:blip r:embed="rId7"/>
          <a:stretch>
            <a:fillRect/>
          </a:stretch>
        </p:blipFill>
        <p:spPr>
          <a:xfrm>
            <a:off x="896112" y="5148072"/>
            <a:ext cx="219456" cy="219456"/>
          </a:xfrm>
          <a:prstGeom prst="rect">
            <a:avLst/>
          </a:prstGeom>
        </p:spPr>
      </p:pic>
      <p:sp>
        <p:nvSpPr>
          <p:cNvPr id="26" name="Text 17"/>
          <p:cNvSpPr txBox="1"/>
          <p:nvPr/>
        </p:nvSpPr>
        <p:spPr>
          <a:xfrm>
            <a:off x="1371600" y="5074920"/>
            <a:ext cx="4434840" cy="365760"/>
          </a:xfrm>
          <a:prstGeom prst="rect">
            <a:avLst/>
          </a:prstGeom>
          <a:noFill/>
          <a:ln/>
        </p:spPr>
        <p:txBody>
          <a:bodyPr wrap="square" lIns="0" tIns="0" rIns="0" bIns="0" rtlCol="0" anchor="ctr"/>
          <a:lstStyle/>
          <a:p>
            <a:pPr indent="0" marL="0">
              <a:buNone/>
            </a:pPr>
            <a:r>
              <a:rPr lang="en-US" sz="1650" dirty="0">
                <a:solidFill>
                  <a:schemeClr val="tx1"/>
                </a:solidFill>
              </a:rPr>
              <a:t>Proofread every slide before posting</a:t>
            </a:r>
            <a:endParaRPr lang="en-US" sz="1650" dirty="0"/>
          </a:p>
        </p:txBody>
      </p:sp>
      <p:sp>
        <p:nvSpPr>
          <p:cNvPr id="27" name="Don't 1 circle"/>
          <p:cNvSpPr/>
          <p:nvPr/>
        </p:nvSpPr>
        <p:spPr>
          <a:xfrm>
            <a:off x="6476695" y="2606040"/>
            <a:ext cx="365760" cy="365760"/>
          </a:xfrm>
          <a:prstGeom prst="ellipse">
            <a:avLst/>
          </a:prstGeom>
          <a:solidFill>
            <a:schemeClr val="accent1"/>
          </a:solidFill>
          <a:ln/>
        </p:spPr>
      </p:sp>
      <p:pic>
        <p:nvPicPr>
          <p:cNvPr id="28" name="Image 7" descr="Don't 1">    </p:cNvPr>
          <p:cNvPicPr>
            <a:picLocks noChangeAspect="1"/>
          </p:cNvPicPr>
          <p:nvPr/>
        </p:nvPicPr>
        <p:blipFill>
          <a:blip r:embed="rId8"/>
          <a:stretch>
            <a:fillRect/>
          </a:stretch>
        </p:blipFill>
        <p:spPr>
          <a:xfrm>
            <a:off x="6549847" y="2679192"/>
            <a:ext cx="219456" cy="219456"/>
          </a:xfrm>
          <a:prstGeom prst="rect">
            <a:avLst/>
          </a:prstGeom>
        </p:spPr>
      </p:pic>
      <p:sp>
        <p:nvSpPr>
          <p:cNvPr id="29" name="Text 19"/>
          <p:cNvSpPr txBox="1"/>
          <p:nvPr/>
        </p:nvSpPr>
        <p:spPr>
          <a:xfrm>
            <a:off x="7025335" y="2606040"/>
            <a:ext cx="4297680" cy="365760"/>
          </a:xfrm>
          <a:prstGeom prst="rect">
            <a:avLst/>
          </a:prstGeom>
          <a:noFill/>
          <a:ln/>
        </p:spPr>
        <p:txBody>
          <a:bodyPr wrap="square" lIns="0" tIns="0" rIns="0" bIns="0" rtlCol="0" anchor="ctr"/>
          <a:lstStyle/>
          <a:p>
            <a:pPr indent="0" marL="0">
              <a:buNone/>
            </a:pPr>
            <a:r>
              <a:rPr lang="en-US" sz="1650" dirty="0">
                <a:solidFill>
                  <a:schemeClr val="bg1"/>
                </a:solidFill>
              </a:rPr>
              <a:t>Blame a child or a parent</a:t>
            </a:r>
            <a:endParaRPr lang="en-US" sz="1650" dirty="0"/>
          </a:p>
        </p:txBody>
      </p:sp>
      <p:sp>
        <p:nvSpPr>
          <p:cNvPr id="30" name="Don't 2 circle"/>
          <p:cNvSpPr/>
          <p:nvPr/>
        </p:nvSpPr>
        <p:spPr>
          <a:xfrm>
            <a:off x="6476695" y="3099816"/>
            <a:ext cx="365760" cy="365760"/>
          </a:xfrm>
          <a:prstGeom prst="ellipse">
            <a:avLst/>
          </a:prstGeom>
          <a:solidFill>
            <a:schemeClr val="accent1"/>
          </a:solidFill>
          <a:ln/>
        </p:spPr>
      </p:sp>
      <p:pic>
        <p:nvPicPr>
          <p:cNvPr id="31" name="Image 8" descr="Don't 2">    </p:cNvPr>
          <p:cNvPicPr>
            <a:picLocks noChangeAspect="1"/>
          </p:cNvPicPr>
          <p:nvPr/>
        </p:nvPicPr>
        <p:blipFill>
          <a:blip r:embed="rId9"/>
          <a:stretch>
            <a:fillRect/>
          </a:stretch>
        </p:blipFill>
        <p:spPr>
          <a:xfrm>
            <a:off x="6549847" y="3172968"/>
            <a:ext cx="219456" cy="219456"/>
          </a:xfrm>
          <a:prstGeom prst="rect">
            <a:avLst/>
          </a:prstGeom>
        </p:spPr>
      </p:pic>
      <p:sp>
        <p:nvSpPr>
          <p:cNvPr id="32" name="Text 21"/>
          <p:cNvSpPr txBox="1"/>
          <p:nvPr/>
        </p:nvSpPr>
        <p:spPr>
          <a:xfrm>
            <a:off x="7025335" y="3099816"/>
            <a:ext cx="4297680" cy="365760"/>
          </a:xfrm>
          <a:prstGeom prst="rect">
            <a:avLst/>
          </a:prstGeom>
          <a:noFill/>
          <a:ln/>
        </p:spPr>
        <p:txBody>
          <a:bodyPr wrap="square" lIns="0" tIns="0" rIns="0" bIns="0" rtlCol="0" anchor="ctr"/>
          <a:lstStyle/>
          <a:p>
            <a:pPr indent="0" marL="0">
              <a:buNone/>
            </a:pPr>
            <a:r>
              <a:rPr lang="en-US" sz="1650" dirty="0">
                <a:solidFill>
                  <a:schemeClr val="bg1"/>
                </a:solidFill>
              </a:rPr>
              <a:t>Label or diagnose in a post</a:t>
            </a:r>
            <a:endParaRPr lang="en-US" sz="1650" dirty="0"/>
          </a:p>
        </p:txBody>
      </p:sp>
      <p:sp>
        <p:nvSpPr>
          <p:cNvPr id="33" name="Don't 3 circle"/>
          <p:cNvSpPr/>
          <p:nvPr/>
        </p:nvSpPr>
        <p:spPr>
          <a:xfrm>
            <a:off x="6476695" y="3593592"/>
            <a:ext cx="365760" cy="365760"/>
          </a:xfrm>
          <a:prstGeom prst="ellipse">
            <a:avLst/>
          </a:prstGeom>
          <a:solidFill>
            <a:schemeClr val="accent1"/>
          </a:solidFill>
          <a:ln/>
        </p:spPr>
      </p:sp>
      <p:pic>
        <p:nvPicPr>
          <p:cNvPr id="34" name="Image 9" descr="Don't 3">    </p:cNvPr>
          <p:cNvPicPr>
            <a:picLocks noChangeAspect="1"/>
          </p:cNvPicPr>
          <p:nvPr/>
        </p:nvPicPr>
        <p:blipFill>
          <a:blip r:embed="rId10"/>
          <a:stretch>
            <a:fillRect/>
          </a:stretch>
        </p:blipFill>
        <p:spPr>
          <a:xfrm>
            <a:off x="6549847" y="3666744"/>
            <a:ext cx="219456" cy="219456"/>
          </a:xfrm>
          <a:prstGeom prst="rect">
            <a:avLst/>
          </a:prstGeom>
        </p:spPr>
      </p:pic>
      <p:sp>
        <p:nvSpPr>
          <p:cNvPr id="35" name="Text 23"/>
          <p:cNvSpPr txBox="1"/>
          <p:nvPr/>
        </p:nvSpPr>
        <p:spPr>
          <a:xfrm>
            <a:off x="7025335" y="3593592"/>
            <a:ext cx="4297680" cy="365760"/>
          </a:xfrm>
          <a:prstGeom prst="rect">
            <a:avLst/>
          </a:prstGeom>
          <a:noFill/>
          <a:ln/>
        </p:spPr>
        <p:txBody>
          <a:bodyPr wrap="square" lIns="0" tIns="0" rIns="0" bIns="0" rtlCol="0" anchor="ctr"/>
          <a:lstStyle/>
          <a:p>
            <a:pPr indent="0" marL="0">
              <a:buNone/>
            </a:pPr>
            <a:r>
              <a:rPr lang="en-US" sz="1650" dirty="0">
                <a:solidFill>
                  <a:schemeClr val="bg1"/>
                </a:solidFill>
              </a:rPr>
              <a:t>Use scary hooks: “5 signs you can’t ignore!”</a:t>
            </a:r>
            <a:endParaRPr lang="en-US" sz="1650" dirty="0"/>
          </a:p>
        </p:txBody>
      </p:sp>
      <p:sp>
        <p:nvSpPr>
          <p:cNvPr id="36" name="Don't 4 circle"/>
          <p:cNvSpPr/>
          <p:nvPr/>
        </p:nvSpPr>
        <p:spPr>
          <a:xfrm>
            <a:off x="6476695" y="4087368"/>
            <a:ext cx="365760" cy="365760"/>
          </a:xfrm>
          <a:prstGeom prst="ellipse">
            <a:avLst/>
          </a:prstGeom>
          <a:solidFill>
            <a:schemeClr val="accent1"/>
          </a:solidFill>
          <a:ln/>
        </p:spPr>
      </p:sp>
      <p:pic>
        <p:nvPicPr>
          <p:cNvPr id="37" name="Image 10" descr="Don't 4">    </p:cNvPr>
          <p:cNvPicPr>
            <a:picLocks noChangeAspect="1"/>
          </p:cNvPicPr>
          <p:nvPr/>
        </p:nvPicPr>
        <p:blipFill>
          <a:blip r:embed="rId11"/>
          <a:stretch>
            <a:fillRect/>
          </a:stretch>
        </p:blipFill>
        <p:spPr>
          <a:xfrm>
            <a:off x="6549847" y="4160520"/>
            <a:ext cx="219456" cy="219456"/>
          </a:xfrm>
          <a:prstGeom prst="rect">
            <a:avLst/>
          </a:prstGeom>
        </p:spPr>
      </p:pic>
      <p:sp>
        <p:nvSpPr>
          <p:cNvPr id="38" name="Text 25"/>
          <p:cNvSpPr txBox="1"/>
          <p:nvPr/>
        </p:nvSpPr>
        <p:spPr>
          <a:xfrm>
            <a:off x="7025335" y="4087368"/>
            <a:ext cx="4297680" cy="365760"/>
          </a:xfrm>
          <a:prstGeom prst="rect">
            <a:avLst/>
          </a:prstGeom>
          <a:noFill/>
          <a:ln/>
        </p:spPr>
        <p:txBody>
          <a:bodyPr wrap="square" lIns="0" tIns="0" rIns="0" bIns="0" rtlCol="0" anchor="ctr"/>
          <a:lstStyle/>
          <a:p>
            <a:pPr indent="0" marL="0">
              <a:buNone/>
            </a:pPr>
            <a:r>
              <a:rPr lang="en-US" sz="1650" dirty="0">
                <a:solidFill>
                  <a:schemeClr val="bg1"/>
                </a:solidFill>
              </a:rPr>
              <a:t>Use jargon in parent posts</a:t>
            </a:r>
            <a:endParaRPr lang="en-US" sz="1650" dirty="0"/>
          </a:p>
        </p:txBody>
      </p:sp>
      <p:sp>
        <p:nvSpPr>
          <p:cNvPr id="39" name="Don't 5 circle"/>
          <p:cNvSpPr/>
          <p:nvPr/>
        </p:nvSpPr>
        <p:spPr>
          <a:xfrm>
            <a:off x="6476695" y="4581144"/>
            <a:ext cx="365760" cy="365760"/>
          </a:xfrm>
          <a:prstGeom prst="ellipse">
            <a:avLst/>
          </a:prstGeom>
          <a:solidFill>
            <a:schemeClr val="accent1"/>
          </a:solidFill>
          <a:ln/>
        </p:spPr>
      </p:sp>
      <p:pic>
        <p:nvPicPr>
          <p:cNvPr id="40" name="Image 11" descr="Don't 5">    </p:cNvPr>
          <p:cNvPicPr>
            <a:picLocks noChangeAspect="1"/>
          </p:cNvPicPr>
          <p:nvPr/>
        </p:nvPicPr>
        <p:blipFill>
          <a:blip r:embed="rId12"/>
          <a:stretch>
            <a:fillRect/>
          </a:stretch>
        </p:blipFill>
        <p:spPr>
          <a:xfrm>
            <a:off x="6549847" y="4654296"/>
            <a:ext cx="219456" cy="219456"/>
          </a:xfrm>
          <a:prstGeom prst="rect">
            <a:avLst/>
          </a:prstGeom>
        </p:spPr>
      </p:pic>
      <p:sp>
        <p:nvSpPr>
          <p:cNvPr id="41" name="Text 27"/>
          <p:cNvSpPr txBox="1"/>
          <p:nvPr/>
        </p:nvSpPr>
        <p:spPr>
          <a:xfrm>
            <a:off x="7025335" y="4581144"/>
            <a:ext cx="4297680" cy="365760"/>
          </a:xfrm>
          <a:prstGeom prst="rect">
            <a:avLst/>
          </a:prstGeom>
          <a:noFill/>
          <a:ln/>
        </p:spPr>
        <p:txBody>
          <a:bodyPr wrap="square" lIns="0" tIns="0" rIns="0" bIns="0" rtlCol="0" anchor="ctr"/>
          <a:lstStyle/>
          <a:p>
            <a:pPr indent="0" marL="0">
              <a:buNone/>
            </a:pPr>
            <a:r>
              <a:rPr lang="en-US" sz="1650" dirty="0">
                <a:solidFill>
                  <a:schemeClr val="bg1"/>
                </a:solidFill>
              </a:rPr>
              <a:t>Add new colours, fonts or a redrawn logo</a:t>
            </a:r>
            <a:endParaRPr lang="en-US" sz="1650" dirty="0"/>
          </a:p>
        </p:txBody>
      </p:sp>
      <p:sp>
        <p:nvSpPr>
          <p:cNvPr id="42" name="Don't 6 circle"/>
          <p:cNvSpPr/>
          <p:nvPr/>
        </p:nvSpPr>
        <p:spPr>
          <a:xfrm>
            <a:off x="6476695" y="5074920"/>
            <a:ext cx="365760" cy="365760"/>
          </a:xfrm>
          <a:prstGeom prst="ellipse">
            <a:avLst/>
          </a:prstGeom>
          <a:solidFill>
            <a:schemeClr val="accent1"/>
          </a:solidFill>
          <a:ln/>
        </p:spPr>
      </p:sp>
      <p:pic>
        <p:nvPicPr>
          <p:cNvPr id="43" name="Image 12" descr="Don't 6">    </p:cNvPr>
          <p:cNvPicPr>
            <a:picLocks noChangeAspect="1"/>
          </p:cNvPicPr>
          <p:nvPr/>
        </p:nvPicPr>
        <p:blipFill>
          <a:blip r:embed="rId13"/>
          <a:stretch>
            <a:fillRect/>
          </a:stretch>
        </p:blipFill>
        <p:spPr>
          <a:xfrm>
            <a:off x="6549847" y="5148072"/>
            <a:ext cx="219456" cy="219456"/>
          </a:xfrm>
          <a:prstGeom prst="rect">
            <a:avLst/>
          </a:prstGeom>
        </p:spPr>
      </p:pic>
      <p:sp>
        <p:nvSpPr>
          <p:cNvPr id="44" name="Text 29"/>
          <p:cNvSpPr txBox="1"/>
          <p:nvPr/>
        </p:nvSpPr>
        <p:spPr>
          <a:xfrm>
            <a:off x="7025335" y="5074920"/>
            <a:ext cx="4297680" cy="365760"/>
          </a:xfrm>
          <a:prstGeom prst="rect">
            <a:avLst/>
          </a:prstGeom>
          <a:noFill/>
          <a:ln/>
        </p:spPr>
        <p:txBody>
          <a:bodyPr wrap="square" lIns="0" tIns="0" rIns="0" bIns="0" rtlCol="0" anchor="ctr"/>
          <a:lstStyle/>
          <a:p>
            <a:pPr indent="0" marL="0">
              <a:buNone/>
            </a:pPr>
            <a:r>
              <a:rPr lang="en-US" sz="1650" dirty="0">
                <a:solidFill>
                  <a:schemeClr val="bg1"/>
                </a:solidFill>
              </a:rPr>
              <a:t>Crowd a slide or copy old text across</a:t>
            </a:r>
            <a:endParaRPr lang="en-US" sz="165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p:cNvSpPr/>
          <p:nvPr/>
        </p:nvSpPr>
        <p:spPr>
          <a:xfrm>
            <a:off x="10276942" y="502920"/>
            <a:ext cx="1366114" cy="329184"/>
          </a:xfrm>
          <a:prstGeom prst="roundRect">
            <a:avLst>
              <a:gd name="adj" fmla="val 50000"/>
            </a:avLst>
          </a:prstGeom>
          <a:solidFill>
            <a:schemeClr val="bg1"/>
          </a:solidFill>
          <a:ln/>
        </p:spPr>
        <p:txBody>
          <a:bodyPr wrap="square" lIns="0" tIns="0" rIns="0" bIns="0" rtlCol="0" anchor="ctr"/>
          <a:lstStyle/>
          <a:p>
            <a:pPr algn="ctr" indent="0" marL="0">
              <a:buNone/>
            </a:pPr>
            <a:r>
              <a:rPr lang="en-US" sz="1100" b="1" spc="120" kern="0" dirty="0">
                <a:solidFill>
                  <a:schemeClr val="tx1"/>
                </a:solidFill>
                <a:latin typeface="Lexend" pitchFamily="34" charset="0"/>
                <a:ea typeface="Lexend" pitchFamily="34" charset="-122"/>
                <a:cs typeface="Lexend" pitchFamily="34" charset="-120"/>
              </a:rPr>
              <a:t>EXAMPLES</a:t>
            </a:r>
            <a:endParaRPr lang="en-US" sz="1100" dirty="0"/>
          </a:p>
        </p:txBody>
      </p:sp>
      <p:sp>
        <p:nvSpPr>
          <p:cNvPr id="3" name="Text 2"/>
          <p:cNvSpPr/>
          <p:nvPr>
            <p:ph idx="105" type="title" hasCustomPrompt="1"/>
          </p:nvPr>
        </p:nvSpPr>
        <p:spPr>
          <a:xfrm>
            <a:off x="566928" y="457200"/>
            <a:ext cx="7955280" cy="128016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rPr>
              <a:t>Content that</a:t>
            </a:r>
            <a:endParaRPr lang="en-US" sz="3600" dirty="0"/>
          </a:p>
          <a:p>
            <a:pPr algn="l" indent="0" marL="0">
              <a:lnSpc>
                <a:spcPct val="95000"/>
              </a:lnSpc>
              <a:buNone/>
            </a:pPr>
            <a:r>
              <a:rPr lang="en-US" sz="3600" b="1" dirty="0">
                <a:solidFill>
                  <a:schemeClr val="tx1"/>
                </a:solidFill>
              </a:rPr>
              <a:t>feels like us.</a:t>
            </a:r>
            <a:endParaRPr lang="en-US" sz="3600" dirty="0"/>
          </a:p>
        </p:txBody>
      </p:sp>
      <p:pic>
        <p:nvPicPr>
          <p:cNvPr id="4" name="Image 0" descr="Example post: Flips the question. Kind and hopeful.">    </p:cNvPr>
          <p:cNvPicPr>
            <a:picLocks noChangeAspect="1"/>
          </p:cNvPicPr>
          <p:nvPr/>
        </p:nvPicPr>
        <p:blipFill>
          <a:blip r:embed="rId1"/>
          <a:stretch>
            <a:fillRect/>
          </a:stretch>
        </p:blipFill>
        <p:spPr>
          <a:xfrm>
            <a:off x="548640" y="1828800"/>
            <a:ext cx="1965960" cy="2458025"/>
          </a:xfrm>
          <a:prstGeom prst="rect">
            <a:avLst/>
          </a:prstGeom>
        </p:spPr>
      </p:pic>
      <p:sp>
        <p:nvSpPr>
          <p:cNvPr id="5" name="Text 2"/>
          <p:cNvSpPr txBox="1"/>
          <p:nvPr/>
        </p:nvSpPr>
        <p:spPr>
          <a:xfrm>
            <a:off x="548640" y="4378265"/>
            <a:ext cx="1965960" cy="457200"/>
          </a:xfrm>
          <a:prstGeom prst="rect">
            <a:avLst/>
          </a:prstGeom>
          <a:noFill/>
          <a:ln/>
        </p:spPr>
        <p:txBody>
          <a:bodyPr wrap="square" lIns="0" tIns="0" rIns="0" bIns="0" rtlCol="0" anchor="t"/>
          <a:lstStyle/>
          <a:p>
            <a:pPr indent="0" marL="0">
              <a:buNone/>
            </a:pPr>
            <a:r>
              <a:rPr lang="en-US" sz="1350" dirty="0">
                <a:solidFill>
                  <a:schemeClr val="tx1"/>
                </a:solidFill>
              </a:rPr>
              <a:t>Flips the question. Kind and hopeful.</a:t>
            </a:r>
            <a:endParaRPr lang="en-US" sz="1350" dirty="0"/>
          </a:p>
        </p:txBody>
      </p:sp>
      <p:pic>
        <p:nvPicPr>
          <p:cNvPr id="6" name="Image 1" descr="Example post: Two-tone headline. Warm close.">    </p:cNvPr>
          <p:cNvPicPr>
            <a:picLocks noChangeAspect="1"/>
          </p:cNvPicPr>
          <p:nvPr/>
        </p:nvPicPr>
        <p:blipFill>
          <a:blip r:embed="rId2"/>
          <a:stretch>
            <a:fillRect/>
          </a:stretch>
        </p:blipFill>
        <p:spPr>
          <a:xfrm>
            <a:off x="2715768" y="1828800"/>
            <a:ext cx="1965960" cy="2458025"/>
          </a:xfrm>
          <a:prstGeom prst="rect">
            <a:avLst/>
          </a:prstGeom>
        </p:spPr>
      </p:pic>
      <p:sp>
        <p:nvSpPr>
          <p:cNvPr id="7" name="Text 3"/>
          <p:cNvSpPr txBox="1"/>
          <p:nvPr/>
        </p:nvSpPr>
        <p:spPr>
          <a:xfrm>
            <a:off x="2715768" y="4378265"/>
            <a:ext cx="1965960" cy="457200"/>
          </a:xfrm>
          <a:prstGeom prst="rect">
            <a:avLst/>
          </a:prstGeom>
          <a:noFill/>
          <a:ln/>
        </p:spPr>
        <p:txBody>
          <a:bodyPr wrap="square" lIns="0" tIns="0" rIns="0" bIns="0" rtlCol="0" anchor="t"/>
          <a:lstStyle/>
          <a:p>
            <a:pPr indent="0" marL="0">
              <a:buNone/>
            </a:pPr>
            <a:r>
              <a:rPr lang="en-US" sz="1350" dirty="0">
                <a:solidFill>
                  <a:schemeClr val="tx1"/>
                </a:solidFill>
              </a:rPr>
              <a:t>Two-tone headline. Warm close.</a:t>
            </a:r>
            <a:endParaRPr lang="en-US" sz="1350" dirty="0"/>
          </a:p>
        </p:txBody>
      </p:sp>
      <p:pic>
        <p:nvPicPr>
          <p:cNvPr id="8" name="Image 2" descr="Example post: Event details, easy to scan.">    </p:cNvPr>
          <p:cNvPicPr>
            <a:picLocks noChangeAspect="1"/>
          </p:cNvPicPr>
          <p:nvPr/>
        </p:nvPicPr>
        <p:blipFill>
          <a:blip r:embed="rId3"/>
          <a:stretch>
            <a:fillRect/>
          </a:stretch>
        </p:blipFill>
        <p:spPr>
          <a:xfrm>
            <a:off x="4882896" y="1828800"/>
            <a:ext cx="1965960" cy="2458025"/>
          </a:xfrm>
          <a:prstGeom prst="rect">
            <a:avLst/>
          </a:prstGeom>
        </p:spPr>
      </p:pic>
      <p:sp>
        <p:nvSpPr>
          <p:cNvPr id="9" name="Text 4"/>
          <p:cNvSpPr txBox="1"/>
          <p:nvPr/>
        </p:nvSpPr>
        <p:spPr>
          <a:xfrm>
            <a:off x="4882896" y="4378265"/>
            <a:ext cx="1965960" cy="457200"/>
          </a:xfrm>
          <a:prstGeom prst="rect">
            <a:avLst/>
          </a:prstGeom>
          <a:noFill/>
          <a:ln/>
        </p:spPr>
        <p:txBody>
          <a:bodyPr wrap="square" lIns="0" tIns="0" rIns="0" bIns="0" rtlCol="0" anchor="t"/>
          <a:lstStyle/>
          <a:p>
            <a:pPr indent="0" marL="0">
              <a:buNone/>
            </a:pPr>
            <a:r>
              <a:rPr lang="en-US" sz="1350" dirty="0">
                <a:solidFill>
                  <a:schemeClr val="tx1"/>
                </a:solidFill>
              </a:rPr>
              <a:t>Event details, easy to scan.</a:t>
            </a:r>
            <a:endParaRPr lang="en-US" sz="1350" dirty="0"/>
          </a:p>
        </p:txBody>
      </p:sp>
      <p:sp>
        <p:nvSpPr>
          <p:cNvPr id="10" name="Text 5"/>
          <p:cNvSpPr txBox="1"/>
          <p:nvPr/>
        </p:nvSpPr>
        <p:spPr>
          <a:xfrm>
            <a:off x="7086600" y="1828800"/>
            <a:ext cx="4556455" cy="274320"/>
          </a:xfrm>
          <a:prstGeom prst="rect">
            <a:avLst/>
          </a:prstGeom>
          <a:noFill/>
          <a:ln/>
        </p:spPr>
        <p:txBody>
          <a:bodyPr wrap="square" lIns="0" tIns="0" rIns="0" bIns="0" rtlCol="0" anchor="t"/>
          <a:lstStyle/>
          <a:p>
            <a:pPr indent="0" marL="0">
              <a:buNone/>
            </a:pPr>
            <a:r>
              <a:rPr lang="en-US" sz="1100" b="1" spc="140" kern="0" dirty="0">
                <a:solidFill>
                  <a:schemeClr val="tx1"/>
                </a:solidFill>
                <a:latin typeface="Lexend" pitchFamily="34" charset="0"/>
                <a:ea typeface="Lexend" pitchFamily="34" charset="-122"/>
                <a:cs typeface="Lexend" pitchFamily="34" charset="-120"/>
              </a:rPr>
              <a:t>Not us  →  The Cub way</a:t>
            </a:r>
            <a:endParaRPr lang="en-US" sz="1100" dirty="0"/>
          </a:p>
        </p:txBody>
      </p:sp>
      <p:sp>
        <p:nvSpPr>
          <p:cNvPr id="11" name="Rewrite 1"/>
          <p:cNvSpPr/>
          <p:nvPr/>
        </p:nvSpPr>
        <p:spPr>
          <a:xfrm>
            <a:off x="7086600" y="2194560"/>
            <a:ext cx="4556455" cy="914400"/>
          </a:xfrm>
          <a:prstGeom prst="roundRect">
            <a:avLst>
              <a:gd name="adj" fmla="val 16000"/>
            </a:avLst>
          </a:prstGeom>
          <a:solidFill>
            <a:schemeClr val="bg1"/>
          </a:solidFill>
          <a:ln/>
        </p:spPr>
      </p:sp>
      <p:sp>
        <p:nvSpPr>
          <p:cNvPr id="12" name="Text 7"/>
          <p:cNvSpPr txBox="1"/>
          <p:nvPr/>
        </p:nvSpPr>
        <p:spPr>
          <a:xfrm>
            <a:off x="7315200" y="2322576"/>
            <a:ext cx="4099255" cy="274320"/>
          </a:xfrm>
          <a:prstGeom prst="rect">
            <a:avLst/>
          </a:prstGeom>
          <a:noFill/>
          <a:ln/>
        </p:spPr>
        <p:txBody>
          <a:bodyPr wrap="square" lIns="0" tIns="0" rIns="0" bIns="0" rtlCol="0" anchor="t"/>
          <a:lstStyle/>
          <a:p>
            <a:pPr indent="0" marL="0">
              <a:buNone/>
            </a:pPr>
            <a:r>
              <a:rPr lang="en-US" sz="1400" strike="sngStrike" dirty="0">
                <a:solidFill>
                  <a:schemeClr val="tx1"/>
                </a:solidFill>
              </a:rPr>
              <a:t>Is your child lazy? 5 signs you can’t ignore!</a:t>
            </a:r>
            <a:endParaRPr lang="en-US" sz="1400" dirty="0"/>
          </a:p>
        </p:txBody>
      </p:sp>
      <p:sp>
        <p:nvSpPr>
          <p:cNvPr id="13" name="Text 8"/>
          <p:cNvSpPr txBox="1"/>
          <p:nvPr/>
        </p:nvSpPr>
        <p:spPr>
          <a:xfrm>
            <a:off x="7315200" y="2651760"/>
            <a:ext cx="4099255" cy="365760"/>
          </a:xfrm>
          <a:prstGeom prst="rect">
            <a:avLst/>
          </a:prstGeom>
          <a:noFill/>
          <a:ln/>
        </p:spPr>
        <p:txBody>
          <a:bodyPr wrap="square" lIns="0" tIns="0" rIns="0" bIns="0" rtlCol="0" anchor="t"/>
          <a:lstStyle/>
          <a:p>
            <a:pPr indent="0" marL="0">
              <a:buNone/>
            </a:pPr>
            <a:r>
              <a:rPr lang="en-US" sz="1700" b="1" dirty="0">
                <a:solidFill>
                  <a:schemeClr val="accent1"/>
                </a:solidFill>
                <a:latin typeface="+mj-lt" pitchFamily="34" charset="0"/>
                <a:ea typeface="+mj-lt" pitchFamily="34" charset="-122"/>
                <a:cs typeface="+mj-lt" pitchFamily="34" charset="-120"/>
              </a:rPr>
              <a:t>“Struggling Doesn’t Mean Not Trying.”</a:t>
            </a:r>
            <a:endParaRPr lang="en-US" sz="1700" dirty="0"/>
          </a:p>
        </p:txBody>
      </p:sp>
      <p:sp>
        <p:nvSpPr>
          <p:cNvPr id="14" name="Rewrite 2"/>
          <p:cNvSpPr/>
          <p:nvPr/>
        </p:nvSpPr>
        <p:spPr>
          <a:xfrm>
            <a:off x="7086600" y="3218688"/>
            <a:ext cx="4556455" cy="914400"/>
          </a:xfrm>
          <a:prstGeom prst="roundRect">
            <a:avLst>
              <a:gd name="adj" fmla="val 16000"/>
            </a:avLst>
          </a:prstGeom>
          <a:solidFill>
            <a:schemeClr val="bg1"/>
          </a:solidFill>
          <a:ln/>
        </p:spPr>
      </p:sp>
      <p:sp>
        <p:nvSpPr>
          <p:cNvPr id="15" name="Text 10"/>
          <p:cNvSpPr txBox="1"/>
          <p:nvPr/>
        </p:nvSpPr>
        <p:spPr>
          <a:xfrm>
            <a:off x="7315200" y="3346704"/>
            <a:ext cx="4099255" cy="274320"/>
          </a:xfrm>
          <a:prstGeom prst="rect">
            <a:avLst/>
          </a:prstGeom>
          <a:noFill/>
          <a:ln/>
        </p:spPr>
        <p:txBody>
          <a:bodyPr wrap="square" lIns="0" tIns="0" rIns="0" bIns="0" rtlCol="0" anchor="t"/>
          <a:lstStyle/>
          <a:p>
            <a:pPr indent="0" marL="0">
              <a:buNone/>
            </a:pPr>
            <a:r>
              <a:rPr lang="en-US" sz="1400" strike="sngStrike" dirty="0">
                <a:solidFill>
                  <a:schemeClr val="tx1"/>
                </a:solidFill>
              </a:rPr>
              <a:t>Why can’t they just focus?!</a:t>
            </a:r>
            <a:endParaRPr lang="en-US" sz="1400" dirty="0"/>
          </a:p>
        </p:txBody>
      </p:sp>
      <p:sp>
        <p:nvSpPr>
          <p:cNvPr id="16" name="Text 11"/>
          <p:cNvSpPr txBox="1"/>
          <p:nvPr/>
        </p:nvSpPr>
        <p:spPr>
          <a:xfrm>
            <a:off x="7315200" y="3675888"/>
            <a:ext cx="4099255" cy="365760"/>
          </a:xfrm>
          <a:prstGeom prst="rect">
            <a:avLst/>
          </a:prstGeom>
          <a:noFill/>
          <a:ln/>
        </p:spPr>
        <p:txBody>
          <a:bodyPr wrap="square" lIns="0" tIns="0" rIns="0" bIns="0" rtlCol="0" anchor="t"/>
          <a:lstStyle/>
          <a:p>
            <a:pPr indent="0" marL="0">
              <a:buNone/>
            </a:pPr>
            <a:r>
              <a:rPr lang="en-US" sz="1700" b="1" dirty="0">
                <a:solidFill>
                  <a:schemeClr val="accent1"/>
                </a:solidFill>
                <a:latin typeface="+mj-lt" pitchFamily="34" charset="0"/>
                <a:ea typeface="+mj-lt" pitchFamily="34" charset="-122"/>
                <a:cs typeface="+mj-lt" pitchFamily="34" charset="-120"/>
              </a:rPr>
              <a:t>“What would help them?”</a:t>
            </a:r>
            <a:endParaRPr lang="en-US" sz="1700" dirty="0"/>
          </a:p>
        </p:txBody>
      </p:sp>
      <p:sp>
        <p:nvSpPr>
          <p:cNvPr id="17" name="Rewrite 3"/>
          <p:cNvSpPr/>
          <p:nvPr/>
        </p:nvSpPr>
        <p:spPr>
          <a:xfrm>
            <a:off x="7086600" y="4242816"/>
            <a:ext cx="4556455" cy="914400"/>
          </a:xfrm>
          <a:prstGeom prst="roundRect">
            <a:avLst>
              <a:gd name="adj" fmla="val 16000"/>
            </a:avLst>
          </a:prstGeom>
          <a:solidFill>
            <a:schemeClr val="bg1"/>
          </a:solidFill>
          <a:ln/>
        </p:spPr>
      </p:sp>
      <p:sp>
        <p:nvSpPr>
          <p:cNvPr id="18" name="Text 13"/>
          <p:cNvSpPr txBox="1"/>
          <p:nvPr/>
        </p:nvSpPr>
        <p:spPr>
          <a:xfrm>
            <a:off x="7315200" y="4370832"/>
            <a:ext cx="4099255" cy="274320"/>
          </a:xfrm>
          <a:prstGeom prst="rect">
            <a:avLst/>
          </a:prstGeom>
          <a:noFill/>
          <a:ln/>
        </p:spPr>
        <p:txBody>
          <a:bodyPr wrap="square" lIns="0" tIns="0" rIns="0" bIns="0" rtlCol="0" anchor="t"/>
          <a:lstStyle/>
          <a:p>
            <a:pPr indent="0" marL="0">
              <a:buNone/>
            </a:pPr>
            <a:r>
              <a:rPr lang="en-US" sz="1400" strike="sngStrike" dirty="0">
                <a:solidFill>
                  <a:schemeClr val="tx1"/>
                </a:solidFill>
              </a:rPr>
              <a:t>BOOK NOW!!! Hurry, seats going fast!!!</a:t>
            </a:r>
            <a:endParaRPr lang="en-US" sz="1400" dirty="0"/>
          </a:p>
        </p:txBody>
      </p:sp>
      <p:sp>
        <p:nvSpPr>
          <p:cNvPr id="19" name="Text 14"/>
          <p:cNvSpPr txBox="1"/>
          <p:nvPr/>
        </p:nvSpPr>
        <p:spPr>
          <a:xfrm>
            <a:off x="7315200" y="4700016"/>
            <a:ext cx="4099255" cy="365760"/>
          </a:xfrm>
          <a:prstGeom prst="rect">
            <a:avLst/>
          </a:prstGeom>
          <a:noFill/>
          <a:ln/>
        </p:spPr>
        <p:txBody>
          <a:bodyPr wrap="square" lIns="0" tIns="0" rIns="0" bIns="0" rtlCol="0" anchor="t"/>
          <a:lstStyle/>
          <a:p>
            <a:pPr indent="0" marL="0">
              <a:buNone/>
            </a:pPr>
            <a:r>
              <a:rPr lang="en-US" sz="1700" b="1" dirty="0">
                <a:solidFill>
                  <a:schemeClr val="accent1"/>
                </a:solidFill>
                <a:latin typeface="+mj-lt" pitchFamily="34" charset="0"/>
                <a:ea typeface="+mj-lt" pitchFamily="34" charset="-122"/>
                <a:cs typeface="+mj-lt" pitchFamily="34" charset="-120"/>
              </a:rPr>
              <a:t>“Limited Spots Available!”</a:t>
            </a:r>
            <a:endParaRPr lang="en-US" sz="1700" dirty="0"/>
          </a:p>
        </p:txBody>
      </p:sp>
      <p:sp>
        <p:nvSpPr>
          <p:cNvPr id="20" name="Text 15"/>
          <p:cNvSpPr txBox="1"/>
          <p:nvPr/>
        </p:nvSpPr>
        <p:spPr>
          <a:xfrm>
            <a:off x="548640" y="5532120"/>
            <a:ext cx="1737360" cy="365760"/>
          </a:xfrm>
          <a:prstGeom prst="rect">
            <a:avLst/>
          </a:prstGeom>
          <a:noFill/>
          <a:ln/>
        </p:spPr>
        <p:txBody>
          <a:bodyPr wrap="square" lIns="0" tIns="0" rIns="0" bIns="0" rtlCol="0" anchor="ctr"/>
          <a:lstStyle/>
          <a:p>
            <a:pPr indent="0" marL="0">
              <a:buNone/>
            </a:pPr>
            <a:r>
              <a:rPr lang="en-US" sz="1600" b="1" dirty="0">
                <a:solidFill>
                  <a:schemeClr val="tx1"/>
                </a:solidFill>
              </a:rPr>
              <a:t>Before you post:</a:t>
            </a:r>
            <a:endParaRPr lang="en-US" sz="1600" dirty="0"/>
          </a:p>
        </p:txBody>
      </p:sp>
      <p:sp>
        <p:nvSpPr>
          <p:cNvPr id="21" name="Checklist 1"/>
          <p:cNvSpPr/>
          <p:nvPr/>
        </p:nvSpPr>
        <p:spPr>
          <a:xfrm>
            <a:off x="2240280" y="5532120"/>
            <a:ext cx="1097280" cy="365760"/>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spc="120" kern="0" dirty="0">
                <a:solidFill>
                  <a:schemeClr val="bg1"/>
                </a:solidFill>
                <a:latin typeface="Lexend" pitchFamily="34" charset="0"/>
                <a:ea typeface="Lexend" pitchFamily="34" charset="-122"/>
                <a:cs typeface="Lexend" pitchFamily="34" charset="-120"/>
              </a:rPr>
              <a:t>Kind?</a:t>
            </a:r>
            <a:endParaRPr lang="en-US" sz="1200" dirty="0"/>
          </a:p>
        </p:txBody>
      </p:sp>
      <p:sp>
        <p:nvSpPr>
          <p:cNvPr id="22" name="Checklist 2"/>
          <p:cNvSpPr/>
          <p:nvPr/>
        </p:nvSpPr>
        <p:spPr>
          <a:xfrm>
            <a:off x="3447288" y="5532120"/>
            <a:ext cx="1143000" cy="365760"/>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spc="120" kern="0" dirty="0">
                <a:solidFill>
                  <a:schemeClr val="bg1"/>
                </a:solidFill>
                <a:latin typeface="Lexend" pitchFamily="34" charset="0"/>
                <a:ea typeface="Lexend" pitchFamily="34" charset="-122"/>
                <a:cs typeface="Lexend" pitchFamily="34" charset="-120"/>
              </a:rPr>
              <a:t>Clear?</a:t>
            </a:r>
            <a:endParaRPr lang="en-US" sz="1200" dirty="0"/>
          </a:p>
        </p:txBody>
      </p:sp>
      <p:sp>
        <p:nvSpPr>
          <p:cNvPr id="23" name="Checklist 3"/>
          <p:cNvSpPr/>
          <p:nvPr/>
        </p:nvSpPr>
        <p:spPr>
          <a:xfrm>
            <a:off x="4700016" y="5532120"/>
            <a:ext cx="1874520" cy="365760"/>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spc="120" kern="0" dirty="0">
                <a:solidFill>
                  <a:schemeClr val="bg1"/>
                </a:solidFill>
                <a:latin typeface="Lexend" pitchFamily="34" charset="0"/>
                <a:ea typeface="Lexend" pitchFamily="34" charset="-122"/>
                <a:cs typeface="Lexend" pitchFamily="34" charset="-120"/>
              </a:rPr>
              <a:t>Sounds like us?</a:t>
            </a:r>
            <a:endParaRPr lang="en-US" sz="1200" dirty="0"/>
          </a:p>
        </p:txBody>
      </p:sp>
      <p:sp>
        <p:nvSpPr>
          <p:cNvPr id="24" name="Checklist 4"/>
          <p:cNvSpPr/>
          <p:nvPr/>
        </p:nvSpPr>
        <p:spPr>
          <a:xfrm>
            <a:off x="6684264" y="5532120"/>
            <a:ext cx="1828800" cy="365760"/>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spc="120" kern="0" dirty="0">
                <a:solidFill>
                  <a:schemeClr val="bg1"/>
                </a:solidFill>
                <a:latin typeface="Lexend" pitchFamily="34" charset="0"/>
                <a:ea typeface="Lexend" pitchFamily="34" charset="-122"/>
                <a:cs typeface="Lexend" pitchFamily="34" charset="-120"/>
              </a:rPr>
              <a:t>Looks like us?</a:t>
            </a:r>
            <a:endParaRPr lang="en-US" sz="1200" dirty="0"/>
          </a:p>
        </p:txBody>
      </p:sp>
      <p:sp>
        <p:nvSpPr>
          <p:cNvPr id="25" name="Checklist 5"/>
          <p:cNvSpPr/>
          <p:nvPr/>
        </p:nvSpPr>
        <p:spPr>
          <a:xfrm>
            <a:off x="8622792" y="5532120"/>
            <a:ext cx="1554480" cy="365760"/>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spc="120" kern="0" dirty="0">
                <a:solidFill>
                  <a:schemeClr val="bg1"/>
                </a:solidFill>
                <a:latin typeface="Lexend" pitchFamily="34" charset="0"/>
                <a:ea typeface="Lexend" pitchFamily="34" charset="-122"/>
                <a:cs typeface="Lexend" pitchFamily="34" charset="-120"/>
              </a:rPr>
              <a:t>Proofread?</a:t>
            </a:r>
            <a:endParaRPr lang="en-US" sz="1200" dirty="0"/>
          </a:p>
        </p:txBody>
      </p:sp>
      <p:sp>
        <p:nvSpPr>
          <p:cNvPr id="25" name="Slide Number Placeholder 0"/>
          <p:cNvSpPr>
            <a:spLocks noGrp="1"/>
          </p:cNvSpPr>
          <p:nvPr>
            <p:ph type="sldNum" sz="quarter" idx="4294967295"/>
          </p:nvPr>
        </p:nvSpPr>
        <p:spPr>
          <a:xfrm>
            <a:off x="10927080" y="6181344"/>
            <a:ext cx="612648"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FFFFFF"/>
                </a:solidFill>
                <a:latin typeface="Lexend"/>
                <a:ea typeface="Lexend"/>
                <a:cs typeface="Lexend"/>
              </a:defRPr>
            </a:lvl1pPr>
          </a:lstStyle>
          <a:p>
            <a:pPr algn="r"/>
            <a:fld id="{F7021451-1387-4CA6-816F-3879F97B5CBC}" type="slidenum">
              <a:rPr b="1" lang="en-US"/>
              <a:t>10</a:t>
            </a:fld>
            <a:endParaRPr lang="en-US"/>
          </a:p>
        </p:txBody>
      </p:sp>
    </p:spTree>
  </p:cSld>
  <p:clrMapOvr>
    <a:masterClrMapping/>
  </p:clrMapOvr>
</p:sld>
</file>

<file path=ppt/theme/theme1.xml><?xml version="1.0" encoding="utf-8"?>
<a:theme xmlns:a="http://schemas.openxmlformats.org/drawingml/2006/main" name="The Cub">
  <a:themeElements>
    <a:clrScheme name="The Cub">
      <a:dk1>
        <a:srgbClr val="2B2B2B"/>
      </a:dk1>
      <a:lt1>
        <a:srgbClr val="FFFFFF"/>
      </a:lt1>
      <a:dk2>
        <a:srgbClr val="2B2B2B"/>
      </a:dk2>
      <a:lt2>
        <a:srgbClr val="FDF6EE"/>
      </a:lt2>
      <a:accent1>
        <a:srgbClr val="F0853E"/>
      </a:accent1>
      <a:accent2>
        <a:srgbClr val="2B2B2B"/>
      </a:accent2>
      <a:accent3>
        <a:srgbClr val="FDF6EE"/>
      </a:accent3>
      <a:accent4>
        <a:srgbClr val="F0853E"/>
      </a:accent4>
      <a:accent5>
        <a:srgbClr val="2B2B2B"/>
      </a:accent5>
      <a:accent6>
        <a:srgbClr val="FDF6EE"/>
      </a:accent6>
      <a:hlink>
        <a:srgbClr val="F0853E"/>
      </a:hlink>
      <a:folHlink>
        <a:srgbClr val="2B2B2B"/>
      </a:folHlink>
    </a:clrScheme>
    <a:fontScheme name="The Cub">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lacial Indifferenc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The Cub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Cub Way</dc:title>
  <dc:subject>Social Media Intern onboarding</dc:subject>
  <dc:creator>The Cub</dc:creator>
  <cp:lastModifiedBy>The Cub</cp:lastModifiedBy>
  <cp:revision>1</cp:revision>
  <dcterms:created xsi:type="dcterms:W3CDTF">2026-10-22T07:52:16Z</dcterms:created>
  <dcterms:modified xsi:type="dcterms:W3CDTF">2026-10-22T07:52:16Z</dcterms:modified>
</cp:coreProperties>
</file>